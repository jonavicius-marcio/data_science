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4" r:id="rId3"/>
    <p:sldId id="265" r:id="rId4"/>
    <p:sldId id="266" r:id="rId5"/>
    <p:sldId id="257" r:id="rId6"/>
    <p:sldId id="261" r:id="rId7"/>
    <p:sldId id="260" r:id="rId8"/>
    <p:sldId id="263" r:id="rId9"/>
    <p:sldId id="271" r:id="rId10"/>
    <p:sldId id="267" r:id="rId11"/>
    <p:sldId id="268" r:id="rId12"/>
    <p:sldId id="269" r:id="rId13"/>
    <p:sldId id="270" r:id="rId14"/>
    <p:sldId id="272"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E6F6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8" d="100"/>
          <a:sy n="88" d="100"/>
        </p:scale>
        <p:origin x="49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570583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11115657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Espaço Reservado para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8571588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838200" y="1825625"/>
            <a:ext cx="5181600" cy="4351338"/>
          </a:xfrm>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6172200" y="1825625"/>
            <a:ext cx="5181600" cy="4351338"/>
          </a:xfrm>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6" name="Espaço Reservado para Rodapé 5"/>
          <p:cNvSpPr>
            <a:spLocks noGrp="1"/>
          </p:cNvSpPr>
          <p:nvPr>
            <p:ph type="ftr" sz="quarter" idx="11"/>
          </p:nvPr>
        </p:nvSpPr>
        <p:spPr/>
        <p:txBody>
          <a:bodyPr/>
          <a:lstStyle/>
          <a:p>
            <a:endParaRPr lang="en-US" dirty="0"/>
          </a:p>
        </p:txBody>
      </p:sp>
      <p:sp>
        <p:nvSpPr>
          <p:cNvPr id="7" name="Espaço Reservado para Número de Slide 6"/>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319676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Espaço Reservado para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839788" y="2505075"/>
            <a:ext cx="5157787" cy="3684588"/>
          </a:xfrm>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6172200" y="2505075"/>
            <a:ext cx="5183188" cy="3684588"/>
          </a:xfrm>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8" name="Espaço Reservado para Rodapé 7"/>
          <p:cNvSpPr>
            <a:spLocks noGrp="1"/>
          </p:cNvSpPr>
          <p:nvPr>
            <p:ph type="ftr" sz="quarter" idx="11"/>
          </p:nvPr>
        </p:nvSpPr>
        <p:spPr/>
        <p:txBody>
          <a:bodyPr/>
          <a:lstStyle/>
          <a:p>
            <a:endParaRPr lang="en-US" dirty="0"/>
          </a:p>
        </p:txBody>
      </p:sp>
      <p:sp>
        <p:nvSpPr>
          <p:cNvPr id="9" name="Espaço Reservado para Número de Slide 8"/>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4201364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4" name="Espaço Reservado para Rodapé 3"/>
          <p:cNvSpPr>
            <a:spLocks noGrp="1"/>
          </p:cNvSpPr>
          <p:nvPr>
            <p:ph type="ftr" sz="quarter" idx="11"/>
          </p:nvPr>
        </p:nvSpPr>
        <p:spPr/>
        <p:txBody>
          <a:bodyPr/>
          <a:lstStyle/>
          <a:p>
            <a:endParaRPr lang="en-US" dirty="0"/>
          </a:p>
        </p:txBody>
      </p:sp>
      <p:sp>
        <p:nvSpPr>
          <p:cNvPr id="5" name="Espaço Reservado para Número de Slide 4"/>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617683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3" name="Espaço Reservado para Rodapé 2"/>
          <p:cNvSpPr>
            <a:spLocks noGrp="1"/>
          </p:cNvSpPr>
          <p:nvPr>
            <p:ph type="ftr" sz="quarter" idx="11"/>
          </p:nvPr>
        </p:nvSpPr>
        <p:spPr/>
        <p:txBody>
          <a:bodyPr/>
          <a:lstStyle/>
          <a:p>
            <a:endParaRPr lang="en-US" dirty="0"/>
          </a:p>
        </p:txBody>
      </p:sp>
      <p:sp>
        <p:nvSpPr>
          <p:cNvPr id="4" name="Espaço Reservado para Número de Slide 3"/>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3549865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Conteú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6" name="Espaço Reservado para Rodapé 5"/>
          <p:cNvSpPr>
            <a:spLocks noGrp="1"/>
          </p:cNvSpPr>
          <p:nvPr>
            <p:ph type="ftr" sz="quarter" idx="11"/>
          </p:nvPr>
        </p:nvSpPr>
        <p:spPr/>
        <p:txBody>
          <a:bodyPr/>
          <a:lstStyle/>
          <a:p>
            <a:endParaRPr lang="en-US" dirty="0"/>
          </a:p>
        </p:txBody>
      </p:sp>
      <p:sp>
        <p:nvSpPr>
          <p:cNvPr id="7" name="Espaço Reservado para Número de Slide 6"/>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3270862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Imagem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Espaço Reservado para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6" name="Espaço Reservado para Rodapé 5"/>
          <p:cNvSpPr>
            <a:spLocks noGrp="1"/>
          </p:cNvSpPr>
          <p:nvPr>
            <p:ph type="ftr" sz="quarter" idx="11"/>
          </p:nvPr>
        </p:nvSpPr>
        <p:spPr/>
        <p:txBody>
          <a:bodyPr/>
          <a:lstStyle/>
          <a:p>
            <a:endParaRPr lang="en-US" dirty="0"/>
          </a:p>
        </p:txBody>
      </p:sp>
      <p:sp>
        <p:nvSpPr>
          <p:cNvPr id="7" name="Espaço Reservado para Número de Slide 6"/>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705069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5901034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838200" y="365125"/>
            <a:ext cx="7734300" cy="5811838"/>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9394FC15-C62C-47D9-AA63-E5A366B8138A}" type="datetimeFigureOut">
              <a:rPr lang="en-US" smtClean="0"/>
              <a:t>2/25/2023</a:t>
            </a:fld>
            <a:endParaRPr lang="en-US" dirty="0"/>
          </a:p>
        </p:txBody>
      </p:sp>
      <p:sp>
        <p:nvSpPr>
          <p:cNvPr id="5" name="Espaço Reservado para Rodapé 4"/>
          <p:cNvSpPr>
            <a:spLocks noGrp="1"/>
          </p:cNvSpPr>
          <p:nvPr>
            <p:ph type="ftr" sz="quarter" idx="11"/>
          </p:nvPr>
        </p:nvSpPr>
        <p:spPr/>
        <p:txBody>
          <a:bodyPr/>
          <a:lstStyle/>
          <a:p>
            <a:endParaRPr lang="en-US" dirty="0"/>
          </a:p>
        </p:txBody>
      </p:sp>
      <p:sp>
        <p:nvSpPr>
          <p:cNvPr id="6" name="Espaço Reservado para Número de Slide 5"/>
          <p:cNvSpPr>
            <a:spLocks noGrp="1"/>
          </p:cNvSpPr>
          <p:nvPr>
            <p:ph type="sldNum" sz="quarter" idx="12"/>
          </p:nvPr>
        </p:nvSpPr>
        <p:spPr/>
        <p:txBody>
          <a:bodyPr/>
          <a:lstStyle/>
          <a:p>
            <a:fld id="{0E91B978-6106-44FE-A2B0-87A2F6797DB9}" type="slidenum">
              <a:rPr lang="en-US" smtClean="0"/>
              <a:t>‹nº›</a:t>
            </a:fld>
            <a:endParaRPr lang="en-US" dirty="0"/>
          </a:p>
        </p:txBody>
      </p:sp>
    </p:spTree>
    <p:extLst>
      <p:ext uri="{BB962C8B-B14F-4D97-AF65-F5344CB8AC3E}">
        <p14:creationId xmlns:p14="http://schemas.microsoft.com/office/powerpoint/2010/main" val="9660644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394FC15-C62C-47D9-AA63-E5A366B8138A}" type="datetimeFigureOut">
              <a:rPr lang="en-US" smtClean="0"/>
              <a:t>2/25/2023</a:t>
            </a:fld>
            <a:endParaRPr lang="en-US" dirty="0"/>
          </a:p>
        </p:txBody>
      </p:sp>
      <p:sp>
        <p:nvSpPr>
          <p:cNvPr id="5" name="Espaço Reservado para Rodapé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Espaço Reservado para Número de Slid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E91B978-6106-44FE-A2B0-87A2F6797DB9}" type="slidenum">
              <a:rPr lang="en-US" smtClean="0"/>
              <a:t>‹nº›</a:t>
            </a:fld>
            <a:endParaRPr lang="en-US" dirty="0"/>
          </a:p>
        </p:txBody>
      </p:sp>
    </p:spTree>
    <p:extLst>
      <p:ext uri="{BB962C8B-B14F-4D97-AF65-F5344CB8AC3E}">
        <p14:creationId xmlns:p14="http://schemas.microsoft.com/office/powerpoint/2010/main" val="24873444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hyperlink" Target="https://blog.somostera.com/data-science/clusteriza%C3%A7%C3%A3o-de-dados" TargetMode="Externa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www.analyticsvidhya.com/blog/2021/06/kmodes-clustering-algorithm-for-categorical-data/" TargetMode="External"/><Relationship Id="rId2" Type="http://schemas.openxmlformats.org/officeDocument/2006/relationships/hyperlink" Target="https://www.youtube.com/watch?v=b39_vipRkUo" TargetMode="External"/><Relationship Id="rId1" Type="http://schemas.openxmlformats.org/officeDocument/2006/relationships/slideLayout" Target="../slideLayouts/slideLayout1.xml"/><Relationship Id="rId5" Type="http://schemas.openxmlformats.org/officeDocument/2006/relationships/hyperlink" Target="https://www.dca.fee.unicamp.br/~lboccato/topico_8_clusterizacao.pdf" TargetMode="External"/><Relationship Id="rId4" Type="http://schemas.openxmlformats.org/officeDocument/2006/relationships/hyperlink" Target="https://www.maxwell.vrac.puc-rio.br/14382/14382_4.PDF"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hyperlink" Target="https://sites.google.com/view/vinegarhill-datalabs/introduction-to-machine-learning/random-forest-and-ols"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tângulo 44"/>
          <p:cNvSpPr/>
          <p:nvPr/>
        </p:nvSpPr>
        <p:spPr>
          <a:xfrm>
            <a:off x="1105989" y="125556"/>
            <a:ext cx="6096000" cy="685059"/>
          </a:xfrm>
          <a:prstGeom prst="rect">
            <a:avLst/>
          </a:prstGeom>
        </p:spPr>
        <p:txBody>
          <a:bodyPr>
            <a:spAutoFit/>
          </a:bodyPr>
          <a:lstStyle/>
          <a:p>
            <a:pPr>
              <a:lnSpc>
                <a:spcPct val="107000"/>
              </a:lnSpc>
              <a:spcAft>
                <a:spcPts val="800"/>
              </a:spcAft>
            </a:pPr>
            <a:r>
              <a:rPr lang="pt-PT" dirty="0">
                <a:effectLst/>
                <a:latin typeface="Calibri" panose="020F0502020204030204" pitchFamily="34" charset="0"/>
                <a:ea typeface="Calibri" panose="020F0502020204030204" pitchFamily="34" charset="0"/>
                <a:cs typeface="Times New Roman" panose="02020603050405020304" pitchFamily="18" charset="0"/>
              </a:rPr>
              <a:t>Y = variavel resposta, target, dependente, output, </a:t>
            </a:r>
            <a:br>
              <a:rPr lang="pt-PT" dirty="0">
                <a:effectLst/>
                <a:latin typeface="Calibri" panose="020F0502020204030204" pitchFamily="34" charset="0"/>
                <a:ea typeface="Calibri" panose="020F0502020204030204" pitchFamily="34" charset="0"/>
                <a:cs typeface="Times New Roman" panose="02020603050405020304" pitchFamily="18" charset="0"/>
              </a:rPr>
            </a:br>
            <a:r>
              <a:rPr lang="pt-PT" dirty="0">
                <a:effectLst/>
                <a:latin typeface="Calibri" panose="020F0502020204030204" pitchFamily="34" charset="0"/>
                <a:ea typeface="Calibri" panose="020F0502020204030204" pitchFamily="34" charset="0"/>
                <a:cs typeface="Times New Roman" panose="02020603050405020304" pitchFamily="18" charset="0"/>
              </a:rPr>
              <a:t>X = variável preditora, </a:t>
            </a:r>
            <a:r>
              <a:rPr lang="pt-PT" dirty="0" err="1">
                <a:latin typeface="Calibri" panose="020F0502020204030204" pitchFamily="34" charset="0"/>
                <a:ea typeface="Calibri" panose="020F0502020204030204" pitchFamily="34" charset="0"/>
                <a:cs typeface="Times New Roman" panose="02020603050405020304" pitchFamily="18" charset="0"/>
              </a:rPr>
              <a:t>exploratoria</a:t>
            </a:r>
            <a:r>
              <a:rPr lang="pt-PT" dirty="0">
                <a:latin typeface="Calibri" panose="020F0502020204030204" pitchFamily="34" charset="0"/>
                <a:ea typeface="Calibri" panose="020F0502020204030204" pitchFamily="34" charset="0"/>
                <a:cs typeface="Times New Roman" panose="02020603050405020304" pitchFamily="18" charset="0"/>
              </a:rPr>
              <a:t>, </a:t>
            </a:r>
            <a:r>
              <a:rPr lang="pt-PT" dirty="0">
                <a:effectLst/>
                <a:latin typeface="Calibri" panose="020F0502020204030204" pitchFamily="34" charset="0"/>
                <a:ea typeface="Calibri" panose="020F0502020204030204" pitchFamily="34" charset="0"/>
                <a:cs typeface="Times New Roman" panose="02020603050405020304" pitchFamily="18" charset="0"/>
              </a:rPr>
              <a:t>independente, input </a:t>
            </a:r>
            <a:endParaRPr lang="en-US"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 name="Imagem 1"/>
          <p:cNvPicPr>
            <a:picLocks noChangeAspect="1"/>
          </p:cNvPicPr>
          <p:nvPr/>
        </p:nvPicPr>
        <p:blipFill>
          <a:blip r:embed="rId2"/>
          <a:stretch>
            <a:fillRect/>
          </a:stretch>
        </p:blipFill>
        <p:spPr>
          <a:xfrm>
            <a:off x="1822550" y="2468219"/>
            <a:ext cx="6073666" cy="2705334"/>
          </a:xfrm>
          <a:prstGeom prst="rect">
            <a:avLst/>
          </a:prstGeom>
        </p:spPr>
      </p:pic>
      <p:pic>
        <p:nvPicPr>
          <p:cNvPr id="3" name="Imagem 2"/>
          <p:cNvPicPr>
            <a:picLocks noChangeAspect="1"/>
          </p:cNvPicPr>
          <p:nvPr/>
        </p:nvPicPr>
        <p:blipFill>
          <a:blip r:embed="rId3"/>
          <a:stretch>
            <a:fillRect/>
          </a:stretch>
        </p:blipFill>
        <p:spPr>
          <a:xfrm>
            <a:off x="3234053" y="1379747"/>
            <a:ext cx="2118544" cy="388654"/>
          </a:xfrm>
          <a:prstGeom prst="rect">
            <a:avLst/>
          </a:prstGeom>
        </p:spPr>
      </p:pic>
    </p:spTree>
    <p:extLst>
      <p:ext uri="{BB962C8B-B14F-4D97-AF65-F5344CB8AC3E}">
        <p14:creationId xmlns:p14="http://schemas.microsoft.com/office/powerpoint/2010/main" val="20419415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09303" y="95466"/>
            <a:ext cx="11599817" cy="435757"/>
          </a:xfrm>
          <a:prstGeom prst="rect">
            <a:avLst/>
          </a:prstGeom>
          <a:solidFill>
            <a:schemeClr val="tx2">
              <a:lumMod val="40000"/>
              <a:lumOff val="60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Feature Selection Methods</a:t>
            </a:r>
          </a:p>
        </p:txBody>
      </p:sp>
      <p:sp>
        <p:nvSpPr>
          <p:cNvPr id="15" name="Retângulo 14"/>
          <p:cNvSpPr/>
          <p:nvPr/>
        </p:nvSpPr>
        <p:spPr>
          <a:xfrm>
            <a:off x="2636510" y="2690949"/>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solidFill>
                  <a:schemeClr val="tx1"/>
                </a:solidFill>
              </a:rPr>
              <a:t>Forward selection</a:t>
            </a:r>
          </a:p>
          <a:p>
            <a:pPr marL="285750" indent="-285750">
              <a:buFont typeface="Arial" panose="020B0604020202020204" pitchFamily="34" charset="0"/>
              <a:buChar char="•"/>
            </a:pPr>
            <a:r>
              <a:rPr lang="en-US" sz="1400" dirty="0">
                <a:solidFill>
                  <a:schemeClr val="tx1"/>
                </a:solidFill>
              </a:rPr>
              <a:t>Backyard selection</a:t>
            </a:r>
          </a:p>
          <a:p>
            <a:pPr marL="285750" indent="-285750">
              <a:buFont typeface="Arial" panose="020B0604020202020204" pitchFamily="34" charset="0"/>
              <a:buChar char="•"/>
            </a:pPr>
            <a:r>
              <a:rPr lang="en-US" sz="1400" dirty="0">
                <a:solidFill>
                  <a:schemeClr val="tx1"/>
                </a:solidFill>
              </a:rPr>
              <a:t>Recursive Feature elimination (RFE)</a:t>
            </a:r>
          </a:p>
        </p:txBody>
      </p:sp>
      <p:sp>
        <p:nvSpPr>
          <p:cNvPr id="16" name="Retângulo 15"/>
          <p:cNvSpPr/>
          <p:nvPr/>
        </p:nvSpPr>
        <p:spPr>
          <a:xfrm>
            <a:off x="232954" y="2679656"/>
            <a:ext cx="2283825" cy="2473235"/>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a:solidFill>
                  <a:schemeClr val="tx1"/>
                </a:solidFill>
              </a:rPr>
              <a:t>Drop incomplete features</a:t>
            </a:r>
          </a:p>
          <a:p>
            <a:pPr marL="285750" indent="-285750">
              <a:buFont typeface="Arial" panose="020B0604020202020204" pitchFamily="34" charset="0"/>
              <a:buChar char="•"/>
            </a:pPr>
            <a:r>
              <a:rPr lang="en-US" sz="1400" dirty="0">
                <a:solidFill>
                  <a:schemeClr val="tx1"/>
                </a:solidFill>
              </a:rPr>
              <a:t>Drop features with high multicollinearity</a:t>
            </a:r>
          </a:p>
          <a:p>
            <a:pPr marL="285750" indent="-285750">
              <a:buFont typeface="Arial" panose="020B0604020202020204" pitchFamily="34" charset="0"/>
              <a:buChar char="•"/>
            </a:pPr>
            <a:r>
              <a:rPr lang="en-US" sz="1400" dirty="0">
                <a:solidFill>
                  <a:schemeClr val="tx1"/>
                </a:solidFill>
              </a:rPr>
              <a:t>Drop features with (near) zero variance</a:t>
            </a:r>
          </a:p>
          <a:p>
            <a:pPr marL="285750" indent="-285750">
              <a:buFont typeface="Arial" panose="020B0604020202020204" pitchFamily="34" charset="0"/>
              <a:buChar char="•"/>
            </a:pPr>
            <a:endParaRPr lang="en-US" sz="1400" dirty="0">
              <a:solidFill>
                <a:schemeClr val="tx1"/>
              </a:solidFill>
            </a:endParaRPr>
          </a:p>
        </p:txBody>
      </p:sp>
      <p:sp>
        <p:nvSpPr>
          <p:cNvPr id="17" name="Retângulo 16"/>
          <p:cNvSpPr/>
          <p:nvPr/>
        </p:nvSpPr>
        <p:spPr>
          <a:xfrm>
            <a:off x="5040063" y="2690949"/>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solidFill>
                  <a:schemeClr val="tx1"/>
                </a:solidFill>
              </a:rPr>
              <a:t>Pearson’s</a:t>
            </a:r>
          </a:p>
          <a:p>
            <a:pPr marL="285750" indent="-285750">
              <a:buFont typeface="Arial" panose="020B0604020202020204" pitchFamily="34" charset="0"/>
              <a:buChar char="•"/>
            </a:pPr>
            <a:r>
              <a:rPr lang="en-US" sz="1400" dirty="0">
                <a:solidFill>
                  <a:schemeClr val="tx1"/>
                </a:solidFill>
              </a:rPr>
              <a:t>Spearman´s</a:t>
            </a:r>
          </a:p>
          <a:p>
            <a:pPr marL="285750" indent="-285750">
              <a:buFont typeface="Arial" panose="020B0604020202020204" pitchFamily="34" charset="0"/>
              <a:buChar char="•"/>
            </a:pPr>
            <a:r>
              <a:rPr lang="pt-BR" sz="1400">
                <a:solidFill>
                  <a:schemeClr val="tx1"/>
                </a:solidFill>
              </a:rPr>
              <a:t>Anova</a:t>
            </a:r>
            <a:endParaRPr lang="pt-BR" sz="1400" dirty="0">
              <a:solidFill>
                <a:schemeClr val="tx1"/>
              </a:solidFill>
            </a:endParaRPr>
          </a:p>
          <a:p>
            <a:pPr marL="285750" indent="-285750">
              <a:buFont typeface="Arial" panose="020B0604020202020204" pitchFamily="34" charset="0"/>
              <a:buChar char="•"/>
            </a:pPr>
            <a:r>
              <a:rPr lang="en-US" sz="1400">
                <a:solidFill>
                  <a:schemeClr val="tx1"/>
                </a:solidFill>
              </a:rPr>
              <a:t>Kendall’s</a:t>
            </a:r>
          </a:p>
          <a:p>
            <a:pPr marL="285750" indent="-285750">
              <a:buFont typeface="Arial" panose="020B0604020202020204" pitchFamily="34" charset="0"/>
              <a:buChar char="•"/>
            </a:pPr>
            <a:r>
              <a:rPr lang="pt-BR" sz="1400">
                <a:solidFill>
                  <a:schemeClr val="tx1"/>
                </a:solidFill>
              </a:rPr>
              <a:t>Chi-Squared</a:t>
            </a:r>
            <a:endParaRPr lang="pt-BR" sz="1400" dirty="0">
              <a:solidFill>
                <a:schemeClr val="tx1"/>
              </a:solidFill>
            </a:endParaRPr>
          </a:p>
          <a:p>
            <a:pPr marL="285750" indent="-285750">
              <a:buFont typeface="Arial" panose="020B0604020202020204" pitchFamily="34" charset="0"/>
              <a:buChar char="•"/>
            </a:pPr>
            <a:r>
              <a:rPr lang="pt-BR" sz="1400" dirty="0">
                <a:solidFill>
                  <a:schemeClr val="tx1"/>
                </a:solidFill>
              </a:rPr>
              <a:t>Mutual </a:t>
            </a:r>
            <a:r>
              <a:rPr lang="en-US" sz="1400">
                <a:solidFill>
                  <a:schemeClr val="tx1"/>
                </a:solidFill>
              </a:rPr>
              <a:t>Information</a:t>
            </a:r>
          </a:p>
          <a:p>
            <a:pPr marL="285750" indent="-285750">
              <a:buFont typeface="Arial" panose="020B0604020202020204" pitchFamily="34" charset="0"/>
              <a:buChar char="•"/>
            </a:pPr>
            <a:r>
              <a:rPr lang="pt-BR" sz="1400">
                <a:solidFill>
                  <a:schemeClr val="tx1"/>
                </a:solidFill>
              </a:rPr>
              <a:t>Point-biserial </a:t>
            </a:r>
          </a:p>
          <a:p>
            <a:pPr marL="285750" indent="-285750">
              <a:buFont typeface="Arial" panose="020B0604020202020204" pitchFamily="34" charset="0"/>
              <a:buChar char="•"/>
            </a:pPr>
            <a:r>
              <a:rPr lang="en-US" sz="1400">
                <a:solidFill>
                  <a:schemeClr val="tx1"/>
                </a:solidFill>
              </a:rPr>
              <a:t>Linear discriminant analysis (LDA</a:t>
            </a:r>
            <a:endParaRPr lang="en-US" sz="1400" dirty="0">
              <a:solidFill>
                <a:schemeClr val="tx1"/>
              </a:solidFill>
            </a:endParaRPr>
          </a:p>
          <a:p>
            <a:endParaRPr lang="en-US" sz="1400" dirty="0">
              <a:solidFill>
                <a:schemeClr val="tx1"/>
              </a:solidFill>
            </a:endParaRPr>
          </a:p>
        </p:txBody>
      </p:sp>
      <p:sp>
        <p:nvSpPr>
          <p:cNvPr id="18" name="Retângulo 17"/>
          <p:cNvSpPr/>
          <p:nvPr/>
        </p:nvSpPr>
        <p:spPr>
          <a:xfrm>
            <a:off x="7434915" y="2690949"/>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solidFill>
                  <a:schemeClr val="tx1"/>
                </a:solidFill>
              </a:rPr>
              <a:t>Lasso/Ridge</a:t>
            </a:r>
            <a:r>
              <a:rPr lang="pt-BR" sz="1400" dirty="0">
                <a:solidFill>
                  <a:schemeClr val="tx1"/>
                </a:solidFill>
              </a:rPr>
              <a:t> (</a:t>
            </a:r>
            <a:r>
              <a:rPr lang="en-US" sz="1400" dirty="0">
                <a:solidFill>
                  <a:schemeClr val="tx1"/>
                </a:solidFill>
              </a:rPr>
              <a:t>using</a:t>
            </a:r>
            <a:r>
              <a:rPr lang="pt-BR" sz="1400">
                <a:solidFill>
                  <a:schemeClr val="tx1"/>
                </a:solidFill>
              </a:rPr>
              <a:t> </a:t>
            </a:r>
            <a:r>
              <a:rPr lang="en-US" sz="1400">
                <a:solidFill>
                  <a:schemeClr val="tx1"/>
                </a:solidFill>
              </a:rPr>
              <a:t>Elastic</a:t>
            </a:r>
            <a:r>
              <a:rPr lang="pt-BR" sz="1400">
                <a:solidFill>
                  <a:schemeClr val="tx1"/>
                </a:solidFill>
              </a:rPr>
              <a:t>Net)</a:t>
            </a:r>
          </a:p>
          <a:p>
            <a:pPr marL="285750" indent="-285750">
              <a:buFont typeface="Arial" panose="020B0604020202020204" pitchFamily="34" charset="0"/>
              <a:buChar char="•"/>
            </a:pPr>
            <a:r>
              <a:rPr lang="en-US" sz="1400" dirty="0">
                <a:solidFill>
                  <a:schemeClr val="tx1"/>
                </a:solidFill>
              </a:rPr>
              <a:t>Tree</a:t>
            </a:r>
            <a:r>
              <a:rPr lang="pt-BR" sz="1400" dirty="0">
                <a:solidFill>
                  <a:schemeClr val="tx1"/>
                </a:solidFill>
              </a:rPr>
              <a:t> </a:t>
            </a:r>
            <a:r>
              <a:rPr lang="en-US" sz="1400">
                <a:solidFill>
                  <a:schemeClr val="tx1"/>
                </a:solidFill>
              </a:rPr>
              <a:t>based</a:t>
            </a:r>
            <a:r>
              <a:rPr lang="pt-BR" sz="1400">
                <a:solidFill>
                  <a:schemeClr val="tx1"/>
                </a:solidFill>
              </a:rPr>
              <a:t> </a:t>
            </a:r>
            <a:r>
              <a:rPr lang="en-US" sz="1400">
                <a:solidFill>
                  <a:schemeClr val="tx1"/>
                </a:solidFill>
              </a:rPr>
              <a:t>selection</a:t>
            </a:r>
          </a:p>
          <a:p>
            <a:pPr marL="285750" indent="-285750">
              <a:buFont typeface="Arial" panose="020B0604020202020204" pitchFamily="34" charset="0"/>
              <a:buChar char="•"/>
            </a:pPr>
            <a:endParaRPr lang="pt-BR" sz="1400" dirty="0">
              <a:solidFill>
                <a:schemeClr val="tx1"/>
              </a:solidFill>
            </a:endParaRPr>
          </a:p>
          <a:p>
            <a:pPr marL="285750" indent="-285750">
              <a:buFont typeface="Arial" panose="020B0604020202020204" pitchFamily="34" charset="0"/>
              <a:buChar char="•"/>
            </a:pPr>
            <a:endParaRPr lang="pt-BR" sz="1400" dirty="0">
              <a:solidFill>
                <a:schemeClr val="tx1"/>
              </a:solidFill>
            </a:endParaRPr>
          </a:p>
        </p:txBody>
      </p:sp>
      <p:sp>
        <p:nvSpPr>
          <p:cNvPr id="23" name="Retângulo 22"/>
          <p:cNvSpPr/>
          <p:nvPr/>
        </p:nvSpPr>
        <p:spPr>
          <a:xfrm>
            <a:off x="5408024" y="836808"/>
            <a:ext cx="278456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Supervised</a:t>
            </a:r>
          </a:p>
        </p:txBody>
      </p:sp>
      <p:sp>
        <p:nvSpPr>
          <p:cNvPr id="24" name="Retângulo 23"/>
          <p:cNvSpPr/>
          <p:nvPr/>
        </p:nvSpPr>
        <p:spPr>
          <a:xfrm>
            <a:off x="339631" y="894398"/>
            <a:ext cx="217714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Unsupervised</a:t>
            </a:r>
          </a:p>
        </p:txBody>
      </p:sp>
      <p:sp>
        <p:nvSpPr>
          <p:cNvPr id="29" name="Retângulo 28"/>
          <p:cNvSpPr/>
          <p:nvPr/>
        </p:nvSpPr>
        <p:spPr>
          <a:xfrm>
            <a:off x="2636510" y="1816689"/>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Wrapper</a:t>
            </a:r>
          </a:p>
        </p:txBody>
      </p:sp>
      <p:sp>
        <p:nvSpPr>
          <p:cNvPr id="33" name="Retângulo 32"/>
          <p:cNvSpPr/>
          <p:nvPr/>
        </p:nvSpPr>
        <p:spPr>
          <a:xfrm>
            <a:off x="7434915" y="1830281"/>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Embedded</a:t>
            </a:r>
          </a:p>
        </p:txBody>
      </p:sp>
      <p:sp>
        <p:nvSpPr>
          <p:cNvPr id="34" name="Retângulo 33"/>
          <p:cNvSpPr/>
          <p:nvPr/>
        </p:nvSpPr>
        <p:spPr>
          <a:xfrm>
            <a:off x="5040063" y="1830281"/>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Filters</a:t>
            </a:r>
          </a:p>
        </p:txBody>
      </p:sp>
      <p:cxnSp>
        <p:nvCxnSpPr>
          <p:cNvPr id="35" name="Conector de seta reta 34"/>
          <p:cNvCxnSpPr>
            <a:endCxn id="34" idx="0"/>
          </p:cNvCxnSpPr>
          <p:nvPr/>
        </p:nvCxnSpPr>
        <p:spPr>
          <a:xfrm flipH="1">
            <a:off x="6181976" y="1457990"/>
            <a:ext cx="174933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ector de seta reta 35"/>
          <p:cNvCxnSpPr>
            <a:endCxn id="33" idx="0"/>
          </p:cNvCxnSpPr>
          <p:nvPr/>
        </p:nvCxnSpPr>
        <p:spPr>
          <a:xfrm>
            <a:off x="7434915" y="1457990"/>
            <a:ext cx="1141913"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p:cNvCxnSpPr/>
          <p:nvPr/>
        </p:nvCxnSpPr>
        <p:spPr>
          <a:xfrm>
            <a:off x="1625238" y="1457990"/>
            <a:ext cx="0" cy="12068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p:cNvCxnSpPr/>
          <p:nvPr/>
        </p:nvCxnSpPr>
        <p:spPr>
          <a:xfrm>
            <a:off x="3969460" y="2309253"/>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p:cNvCxnSpPr/>
          <p:nvPr/>
        </p:nvCxnSpPr>
        <p:spPr>
          <a:xfrm>
            <a:off x="6405676" y="2295661"/>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p:cNvCxnSpPr/>
          <p:nvPr/>
        </p:nvCxnSpPr>
        <p:spPr>
          <a:xfrm>
            <a:off x="8827199" y="2325972"/>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p:cNvCxnSpPr>
            <a:endCxn id="29" idx="0"/>
          </p:cNvCxnSpPr>
          <p:nvPr/>
        </p:nvCxnSpPr>
        <p:spPr>
          <a:xfrm flipH="1">
            <a:off x="3778423" y="1437731"/>
            <a:ext cx="4640578" cy="37895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tângulo 38"/>
          <p:cNvSpPr/>
          <p:nvPr/>
        </p:nvSpPr>
        <p:spPr>
          <a:xfrm>
            <a:off x="9835748" y="2677357"/>
            <a:ext cx="2283825" cy="2473234"/>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400">
                <a:solidFill>
                  <a:schemeClr val="tx1"/>
                </a:solidFill>
              </a:rPr>
              <a:t>Feature </a:t>
            </a:r>
            <a:r>
              <a:rPr lang="en-US" sz="1400">
                <a:solidFill>
                  <a:schemeClr val="tx1"/>
                </a:solidFill>
              </a:rPr>
              <a:t>shuffling</a:t>
            </a:r>
            <a:r>
              <a:rPr lang="pt-BR" sz="1400">
                <a:solidFill>
                  <a:schemeClr val="tx1"/>
                </a:solidFill>
              </a:rPr>
              <a:t> </a:t>
            </a:r>
            <a:endParaRPr lang="pt-BR" sz="1400" dirty="0">
              <a:solidFill>
                <a:schemeClr val="tx1"/>
              </a:solidFill>
            </a:endParaRPr>
          </a:p>
          <a:p>
            <a:pPr marL="285750" indent="-285750">
              <a:buFont typeface="Arial" panose="020B0604020202020204" pitchFamily="34" charset="0"/>
              <a:buChar char="•"/>
            </a:pPr>
            <a:r>
              <a:rPr lang="en-US" sz="1400">
                <a:solidFill>
                  <a:schemeClr val="tx1"/>
                </a:solidFill>
              </a:rPr>
              <a:t>Recursive</a:t>
            </a:r>
            <a:r>
              <a:rPr lang="pt-BR" sz="1400">
                <a:solidFill>
                  <a:schemeClr val="tx1"/>
                </a:solidFill>
              </a:rPr>
              <a:t> Feature </a:t>
            </a:r>
            <a:r>
              <a:rPr lang="en-US" sz="1400">
                <a:solidFill>
                  <a:schemeClr val="tx1"/>
                </a:solidFill>
              </a:rPr>
              <a:t>elimination</a:t>
            </a:r>
            <a:r>
              <a:rPr lang="pt-BR" sz="1400">
                <a:solidFill>
                  <a:schemeClr val="tx1"/>
                </a:solidFill>
              </a:rPr>
              <a:t> </a:t>
            </a:r>
            <a:r>
              <a:rPr lang="pt-BR" sz="1400" dirty="0">
                <a:solidFill>
                  <a:schemeClr val="tx1"/>
                </a:solidFill>
              </a:rPr>
              <a:t>(RFE)</a:t>
            </a:r>
            <a:endParaRPr lang="en-US" sz="1400" dirty="0">
              <a:solidFill>
                <a:schemeClr val="tx1"/>
              </a:solidFill>
            </a:endParaRPr>
          </a:p>
          <a:p>
            <a:pPr marL="285750" indent="-285750">
              <a:buFont typeface="Arial" panose="020B0604020202020204" pitchFamily="34" charset="0"/>
              <a:buChar char="•"/>
            </a:pPr>
            <a:r>
              <a:rPr lang="en-US" sz="1400">
                <a:solidFill>
                  <a:schemeClr val="tx1"/>
                </a:solidFill>
              </a:rPr>
              <a:t>Recursive</a:t>
            </a:r>
            <a:r>
              <a:rPr lang="pt-BR" sz="1400">
                <a:solidFill>
                  <a:schemeClr val="tx1"/>
                </a:solidFill>
              </a:rPr>
              <a:t> Feature </a:t>
            </a:r>
            <a:r>
              <a:rPr lang="en-US" sz="1400">
                <a:solidFill>
                  <a:schemeClr val="tx1"/>
                </a:solidFill>
              </a:rPr>
              <a:t>addition</a:t>
            </a:r>
          </a:p>
          <a:p>
            <a:pPr marL="285750" indent="-285750">
              <a:buFont typeface="Arial" panose="020B0604020202020204" pitchFamily="34" charset="0"/>
              <a:buChar char="•"/>
            </a:pPr>
            <a:endParaRPr lang="pt-BR" sz="1400" dirty="0">
              <a:solidFill>
                <a:schemeClr val="tx1"/>
              </a:solidFill>
            </a:endParaRPr>
          </a:p>
          <a:p>
            <a:pPr marL="285750" indent="-285750">
              <a:buFont typeface="Arial" panose="020B0604020202020204" pitchFamily="34" charset="0"/>
              <a:buChar char="•"/>
            </a:pPr>
            <a:endParaRPr lang="pt-BR" sz="1400" dirty="0">
              <a:solidFill>
                <a:schemeClr val="tx1"/>
              </a:solidFill>
            </a:endParaRPr>
          </a:p>
        </p:txBody>
      </p:sp>
      <p:sp>
        <p:nvSpPr>
          <p:cNvPr id="41" name="Retângulo 40"/>
          <p:cNvSpPr/>
          <p:nvPr/>
        </p:nvSpPr>
        <p:spPr>
          <a:xfrm>
            <a:off x="9835748" y="1816689"/>
            <a:ext cx="2283825"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Hybrid</a:t>
            </a:r>
          </a:p>
        </p:txBody>
      </p:sp>
      <p:cxnSp>
        <p:nvCxnSpPr>
          <p:cNvPr id="42" name="Conector de seta reta 41"/>
          <p:cNvCxnSpPr/>
          <p:nvPr/>
        </p:nvCxnSpPr>
        <p:spPr>
          <a:xfrm>
            <a:off x="11228032" y="2312380"/>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03426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470262" y="714895"/>
            <a:ext cx="10955384" cy="5401735"/>
          </a:xfrm>
          <a:prstGeom prst="rect">
            <a:avLst/>
          </a:prstGeom>
        </p:spPr>
        <p:txBody>
          <a:bodyPr wrap="square">
            <a:spAutoFit/>
          </a:bodyPr>
          <a:lstStyle/>
          <a:p>
            <a:pPr marR="0" lvl="0" algn="ctr">
              <a:lnSpc>
                <a:spcPct val="107000"/>
              </a:lnSpc>
              <a:spcBef>
                <a:spcPts val="0"/>
              </a:spcBef>
              <a:spcAft>
                <a:spcPts val="0"/>
              </a:spcAft>
            </a:pPr>
            <a:r>
              <a:rPr lang="en-US" b="1" dirty="0"/>
              <a:t>Explanation</a:t>
            </a: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4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Filter</a:t>
            </a:r>
            <a:r>
              <a:rPr lang="en-US" sz="1400" dirty="0">
                <a:latin typeface="Calibri" panose="020F0502020204030204" pitchFamily="34" charset="0"/>
                <a:ea typeface="Calibri" panose="020F0502020204030204" pitchFamily="34" charset="0"/>
                <a:cs typeface="Times New Roman" panose="02020603050405020304" pitchFamily="18" charset="0"/>
              </a:rPr>
              <a:t>: it is based on correlation, uses statistical measures to assign a score to each feature. This method should be used for preliminary screening. It can detect constant, duplicated, and correlated features. Usually not the best performance in terms of reducing features.  </a:t>
            </a:r>
          </a:p>
          <a:p>
            <a:pPr marR="0" lvl="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Filter method is less accurate. It is great while doing EDA, it can also be used for checking multi co-linearity in data.</a:t>
            </a:r>
          </a:p>
          <a:p>
            <a:pPr marL="457200" marR="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Note: Linear discriminant analysis (LDA): Linear discriminant analysis is used to find a linear combination of features that characterizes or separates two or more classes of a categorical variable.</a:t>
            </a:r>
          </a:p>
          <a:p>
            <a:pPr marL="457200" marR="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 </a:t>
            </a:r>
          </a:p>
          <a:p>
            <a:pPr marR="0" lvl="0">
              <a:lnSpc>
                <a:spcPct val="107000"/>
              </a:lnSpc>
              <a:spcBef>
                <a:spcPts val="0"/>
              </a:spcBef>
              <a:spcAft>
                <a:spcPts val="0"/>
              </a:spcAft>
            </a:pP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Wrapper Methods</a:t>
            </a:r>
            <a:r>
              <a:rPr lang="en-US" sz="1400" dirty="0">
                <a:latin typeface="Calibri" panose="020F0502020204030204" pitchFamily="34" charset="0"/>
                <a:ea typeface="Calibri" panose="020F0502020204030204" pitchFamily="34" charset="0"/>
                <a:cs typeface="Times New Roman" panose="02020603050405020304" pitchFamily="18" charset="0"/>
              </a:rPr>
              <a:t>: This approach uses Machine Learning algorithm. Performance of this method depends on model selected and data underlying. Usually can suggests the optimal feature subset. Tries different subset of features to figure out optimal features. Typically very computationally expensive. Can detect interactions between features.</a:t>
            </a:r>
          </a:p>
          <a:p>
            <a:pPr marR="0" lvl="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Select a set of features, in which different combinations are prepared, evaluated and compared. A predictive model is used to evaluate the combination of features and assign a score based on model accuracy. Example: Backward Elimination, Forward Selection, Bidirectional Elimination,</a:t>
            </a:r>
            <a:r>
              <a:rPr lang="en-US" sz="1400" i="1" dirty="0">
                <a:latin typeface="Calibri" panose="020F0502020204030204" pitchFamily="34" charset="0"/>
                <a:ea typeface="Calibri" panose="020F0502020204030204" pitchFamily="34" charset="0"/>
                <a:cs typeface="Times New Roman" panose="02020603050405020304" pitchFamily="18" charset="0"/>
              </a:rPr>
              <a:t> </a:t>
            </a:r>
            <a:r>
              <a:rPr lang="en-US" sz="1400" dirty="0">
                <a:latin typeface="Calibri" panose="020F0502020204030204" pitchFamily="34" charset="0"/>
                <a:ea typeface="Calibri" panose="020F0502020204030204" pitchFamily="34" charset="0"/>
                <a:cs typeface="Times New Roman" panose="02020603050405020304" pitchFamily="18" charset="0"/>
              </a:rPr>
              <a:t>Exhaustive Search, and RFE (Recursive Feature Elimination).  Wrappers are terribly slow when it comes to large datasets.</a:t>
            </a:r>
          </a:p>
          <a:p>
            <a:pPr marL="457200" marR="0">
              <a:lnSpc>
                <a:spcPct val="107000"/>
              </a:lnSpc>
              <a:spcBef>
                <a:spcPts val="0"/>
              </a:spcBef>
              <a:spcAft>
                <a:spcPts val="0"/>
              </a:spcAft>
            </a:pPr>
            <a:r>
              <a:rPr lang="en-US" sz="1400" dirty="0">
                <a:latin typeface="Calibri" panose="020F0502020204030204" pitchFamily="34" charset="0"/>
                <a:ea typeface="Calibri" panose="020F0502020204030204" pitchFamily="34" charset="0"/>
                <a:cs typeface="Times New Roman" panose="02020603050405020304" pitchFamily="18" charset="0"/>
              </a:rPr>
              <a:t>	</a:t>
            </a:r>
          </a:p>
          <a:p>
            <a:pPr marR="0" lvl="0">
              <a:lnSpc>
                <a:spcPct val="107000"/>
              </a:lnSpc>
              <a:spcBef>
                <a:spcPts val="0"/>
              </a:spcBef>
              <a:spcAft>
                <a:spcPts val="800"/>
              </a:spcAft>
            </a:pP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Embedded Methods</a:t>
            </a:r>
            <a:r>
              <a:rPr lang="en-US" sz="1400" b="1" dirty="0">
                <a:latin typeface="Calibri" panose="020F0502020204030204" pitchFamily="34" charset="0"/>
                <a:ea typeface="Calibri" panose="020F0502020204030204" pitchFamily="34" charset="0"/>
                <a:cs typeface="Times New Roman" panose="02020603050405020304" pitchFamily="18" charset="0"/>
              </a:rPr>
              <a:t>: </a:t>
            </a:r>
            <a:r>
              <a:rPr lang="en-US" sz="1400" dirty="0">
                <a:latin typeface="Calibri" panose="020F0502020204030204" pitchFamily="34" charset="0"/>
                <a:ea typeface="Calibri" panose="020F0502020204030204" pitchFamily="34" charset="0"/>
                <a:cs typeface="Times New Roman" panose="02020603050405020304" pitchFamily="18" charset="0"/>
              </a:rPr>
              <a:t>Performs feature selection as building the model. Generally less computationally expensive than Wrapper methods. Often provides results that are best of both worlds, often more realistic approach.</a:t>
            </a:r>
          </a:p>
          <a:p>
            <a:pPr marR="0" lvl="0">
              <a:lnSpc>
                <a:spcPct val="107000"/>
              </a:lnSpc>
              <a:spcBef>
                <a:spcPts val="0"/>
              </a:spcBef>
              <a:spcAft>
                <a:spcPts val="800"/>
              </a:spcAft>
            </a:pPr>
            <a:r>
              <a:rPr lang="en-US" sz="1400" b="1" dirty="0">
                <a:latin typeface="Calibri" panose="020F0502020204030204" pitchFamily="34" charset="0"/>
                <a:ea typeface="Calibri" panose="020F0502020204030204" pitchFamily="34" charset="0"/>
                <a:cs typeface="Times New Roman" panose="02020603050405020304" pitchFamily="18" charset="0"/>
              </a:rPr>
              <a:t>Wrapper and Embedded methods</a:t>
            </a:r>
            <a:r>
              <a:rPr lang="en-US" sz="1400" dirty="0">
                <a:latin typeface="Calibri" panose="020F0502020204030204" pitchFamily="34" charset="0"/>
                <a:ea typeface="Calibri" panose="020F0502020204030204" pitchFamily="34" charset="0"/>
                <a:cs typeface="Times New Roman" panose="02020603050405020304" pitchFamily="18" charset="0"/>
              </a:rPr>
              <a:t> give more accurate results but as they are computationally expensive, these method are suited when you have lesser features (~20).</a:t>
            </a:r>
          </a:p>
          <a:p>
            <a:pPr marR="0" lvl="0">
              <a:lnSpc>
                <a:spcPct val="107000"/>
              </a:lnSpc>
              <a:spcBef>
                <a:spcPts val="0"/>
              </a:spcBef>
              <a:spcAft>
                <a:spcPts val="800"/>
              </a:spcAft>
            </a:pPr>
            <a:r>
              <a:rPr lang="en-US" sz="14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Hybrid Methods</a:t>
            </a:r>
            <a:r>
              <a:rPr lang="en-US" sz="1400" b="1" dirty="0">
                <a:latin typeface="Calibri" panose="020F0502020204030204" pitchFamily="34" charset="0"/>
                <a:ea typeface="Calibri" panose="020F0502020204030204" pitchFamily="34" charset="0"/>
                <a:cs typeface="Times New Roman" panose="02020603050405020304" pitchFamily="18" charset="0"/>
              </a:rPr>
              <a:t>:</a:t>
            </a:r>
            <a:r>
              <a:rPr lang="en-US" sz="1400" dirty="0">
                <a:latin typeface="Calibri" panose="020F0502020204030204" pitchFamily="34" charset="0"/>
                <a:ea typeface="Calibri" panose="020F0502020204030204" pitchFamily="34" charset="0"/>
                <a:cs typeface="Times New Roman" panose="02020603050405020304" pitchFamily="18" charset="0"/>
              </a:rPr>
              <a:t> Amalgamation of all the techniques above. This approach is less computationally expensive than Wrapper methods and has good performance.</a:t>
            </a:r>
            <a:endParaRPr lang="en-US"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488156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470262" y="714895"/>
            <a:ext cx="10955384" cy="2109488"/>
          </a:xfrm>
          <a:prstGeom prst="rect">
            <a:avLst/>
          </a:prstGeom>
        </p:spPr>
        <p:txBody>
          <a:bodyPr wrap="square">
            <a:spAutoFit/>
          </a:bodyPr>
          <a:lstStyle/>
          <a:p>
            <a:pPr marR="0" lvl="0" algn="ctr">
              <a:lnSpc>
                <a:spcPct val="107000"/>
              </a:lnSpc>
              <a:spcBef>
                <a:spcPts val="0"/>
              </a:spcBef>
              <a:spcAft>
                <a:spcPts val="0"/>
              </a:spcAft>
            </a:pPr>
            <a:r>
              <a:rPr lang="en-US" b="1" dirty="0"/>
              <a:t>Explanation</a:t>
            </a: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200" b="1" dirty="0">
              <a:latin typeface="Calibri" panose="020F0502020204030204" pitchFamily="34" charset="0"/>
              <a:ea typeface="Calibri" panose="020F0502020204030204" pitchFamily="34" charset="0"/>
              <a:cs typeface="Times New Roman" panose="02020603050405020304" pitchFamily="18" charset="0"/>
            </a:endParaRPr>
          </a:p>
          <a:p>
            <a:pPr marR="0" lvl="0">
              <a:lnSpc>
                <a:spcPct val="107000"/>
              </a:lnSpc>
              <a:spcBef>
                <a:spcPts val="0"/>
              </a:spcBef>
              <a:spcAft>
                <a:spcPts val="0"/>
              </a:spcAft>
            </a:pPr>
            <a:endParaRPr lang="en-US" sz="1400" b="1" dirty="0">
              <a:latin typeface="Calibri" panose="020F0502020204030204" pitchFamily="34" charset="0"/>
              <a:ea typeface="Calibri" panose="020F0502020204030204" pitchFamily="34" charset="0"/>
              <a:cs typeface="Times New Roman" panose="02020603050405020304" pitchFamily="18" charset="0"/>
            </a:endParaRPr>
          </a:p>
          <a:p>
            <a:pPr fontAlgn="base"/>
            <a:r>
              <a:rPr lang="pt-BR" sz="1400" b="1" dirty="0"/>
              <a:t>Qual Método utilizar?</a:t>
            </a:r>
            <a:endParaRPr lang="en-US" sz="1400" b="1" dirty="0"/>
          </a:p>
          <a:p>
            <a:pPr marL="342900" lvl="0" indent="-342900" fontAlgn="base">
              <a:buFont typeface="+mj-lt"/>
              <a:buAutoNum type="arabicPeriod"/>
            </a:pPr>
            <a:r>
              <a:rPr lang="pt-BR" sz="1400"/>
              <a:t>Tente usar o RFE caso tenha recursos computacionais para isso.</a:t>
            </a:r>
          </a:p>
          <a:p>
            <a:pPr marL="342900" lvl="0" indent="-342900" fontAlgn="base">
              <a:buFont typeface="+mj-lt"/>
              <a:buAutoNum type="arabicPeriod"/>
            </a:pPr>
            <a:r>
              <a:rPr lang="pt-BR" sz="1400" dirty="0"/>
              <a:t>Se estiver trabalhando com Classificação e as </a:t>
            </a:r>
            <a:r>
              <a:rPr lang="pt-BR" sz="1400" dirty="0" err="1"/>
              <a:t>features</a:t>
            </a:r>
            <a:r>
              <a:rPr lang="pt-BR" sz="1400" dirty="0"/>
              <a:t> forem numéricas utilize </a:t>
            </a:r>
            <a:r>
              <a:rPr lang="pt-BR" sz="1400" dirty="0" err="1"/>
              <a:t>f_classif</a:t>
            </a:r>
            <a:r>
              <a:rPr lang="pt-BR" sz="1400" dirty="0"/>
              <a:t> ou </a:t>
            </a:r>
            <a:r>
              <a:rPr lang="pt-BR" sz="1400" dirty="0" err="1"/>
              <a:t>mutual_info_classif</a:t>
            </a:r>
            <a:r>
              <a:rPr lang="pt-BR" sz="1400" dirty="0"/>
              <a:t>.</a:t>
            </a:r>
            <a:endParaRPr lang="en-US" sz="1400"/>
          </a:p>
          <a:p>
            <a:pPr marL="342900" lvl="0" indent="-342900" fontAlgn="base">
              <a:buFont typeface="+mj-lt"/>
              <a:buAutoNum type="arabicPeriod"/>
            </a:pPr>
            <a:r>
              <a:rPr lang="pt-BR" sz="1400"/>
              <a:t>Se </a:t>
            </a:r>
            <a:r>
              <a:rPr lang="pt-BR" sz="1400" dirty="0"/>
              <a:t>estiver trabalhando com Regressão e as </a:t>
            </a:r>
            <a:r>
              <a:rPr lang="pt-BR" sz="1400" dirty="0" err="1"/>
              <a:t>features</a:t>
            </a:r>
            <a:r>
              <a:rPr lang="pt-BR" sz="1400" dirty="0"/>
              <a:t> forem numéricas utilize </a:t>
            </a:r>
            <a:r>
              <a:rPr lang="pt-BR" sz="1400" dirty="0" err="1"/>
              <a:t>f_regression</a:t>
            </a:r>
            <a:r>
              <a:rPr lang="pt-BR" sz="1400" dirty="0"/>
              <a:t> </a:t>
            </a:r>
            <a:r>
              <a:rPr lang="pt-BR" sz="1400"/>
              <a:t>ou mutual_info_regression.</a:t>
            </a:r>
            <a:endParaRPr lang="en-US" sz="1400"/>
          </a:p>
          <a:p>
            <a:pPr marL="342900" lvl="0" indent="-342900" fontAlgn="base">
              <a:buFont typeface="+mj-lt"/>
              <a:buAutoNum type="arabicPeriod"/>
            </a:pPr>
            <a:r>
              <a:rPr lang="pt-BR" sz="1400"/>
              <a:t>Caso esteja trabalhando com features categóricas utilize chi2</a:t>
            </a:r>
          </a:p>
          <a:p>
            <a:pPr marL="342900" lvl="0" indent="-342900" fontAlgn="base">
              <a:buFont typeface="+mj-lt"/>
              <a:buAutoNum type="arabicPeriod"/>
            </a:pPr>
            <a:r>
              <a:rPr lang="pt-BR" sz="1400" dirty="0"/>
              <a:t>Automatize essa etapa com Pipelines para evitar erros.</a:t>
            </a:r>
            <a:endParaRPr lang="en-US" sz="1400"/>
          </a:p>
        </p:txBody>
      </p:sp>
    </p:spTree>
    <p:extLst>
      <p:ext uri="{BB962C8B-B14F-4D97-AF65-F5344CB8AC3E}">
        <p14:creationId xmlns:p14="http://schemas.microsoft.com/office/powerpoint/2010/main" val="18296396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09303" y="95466"/>
            <a:ext cx="11599817" cy="435757"/>
          </a:xfrm>
          <a:prstGeom prst="rect">
            <a:avLst/>
          </a:prstGeom>
          <a:solidFill>
            <a:schemeClr val="tx2">
              <a:lumMod val="40000"/>
              <a:lumOff val="60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Filter Method: How to select the estimator</a:t>
            </a:r>
          </a:p>
        </p:txBody>
      </p:sp>
      <p:sp>
        <p:nvSpPr>
          <p:cNvPr id="6" name="Retângulo 5"/>
          <p:cNvSpPr/>
          <p:nvPr/>
        </p:nvSpPr>
        <p:spPr>
          <a:xfrm>
            <a:off x="4336870" y="811940"/>
            <a:ext cx="3143794" cy="478972"/>
          </a:xfrm>
          <a:prstGeom prst="rect">
            <a:avLst/>
          </a:prstGeom>
          <a:solidFill>
            <a:schemeClr val="accent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Input Variable</a:t>
            </a:r>
          </a:p>
        </p:txBody>
      </p:sp>
      <p:sp>
        <p:nvSpPr>
          <p:cNvPr id="11" name="Retângulo 10"/>
          <p:cNvSpPr/>
          <p:nvPr/>
        </p:nvSpPr>
        <p:spPr>
          <a:xfrm>
            <a:off x="7480664" y="1790301"/>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Categorical</a:t>
            </a:r>
          </a:p>
        </p:txBody>
      </p:sp>
      <p:sp>
        <p:nvSpPr>
          <p:cNvPr id="12" name="Retângulo 11"/>
          <p:cNvSpPr/>
          <p:nvPr/>
        </p:nvSpPr>
        <p:spPr>
          <a:xfrm>
            <a:off x="1731915" y="1772476"/>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Numerical</a:t>
            </a:r>
          </a:p>
        </p:txBody>
      </p:sp>
      <p:sp>
        <p:nvSpPr>
          <p:cNvPr id="15" name="Retângulo 14"/>
          <p:cNvSpPr/>
          <p:nvPr/>
        </p:nvSpPr>
        <p:spPr>
          <a:xfrm>
            <a:off x="3124199"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a:solidFill>
                  <a:schemeClr val="tx1"/>
                </a:solidFill>
              </a:rPr>
              <a:t>Anova</a:t>
            </a:r>
          </a:p>
          <a:p>
            <a:pPr marL="285750" indent="-285750">
              <a:buFont typeface="Arial" panose="020B0604020202020204" pitchFamily="34" charset="0"/>
              <a:buChar char="•"/>
            </a:pPr>
            <a:r>
              <a:rPr lang="pt-BR" sz="1600" dirty="0" err="1">
                <a:solidFill>
                  <a:schemeClr val="tx1"/>
                </a:solidFill>
              </a:rPr>
              <a:t>Kendall’s</a:t>
            </a:r>
            <a:endParaRPr lang="en-US" sz="1600" dirty="0">
              <a:solidFill>
                <a:schemeClr val="tx1"/>
              </a:solidFill>
            </a:endParaRPr>
          </a:p>
        </p:txBody>
      </p:sp>
      <p:sp>
        <p:nvSpPr>
          <p:cNvPr id="16" name="Retângulo 15"/>
          <p:cNvSpPr/>
          <p:nvPr/>
        </p:nvSpPr>
        <p:spPr>
          <a:xfrm>
            <a:off x="232954"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err="1">
                <a:solidFill>
                  <a:schemeClr val="tx1"/>
                </a:solidFill>
              </a:rPr>
              <a:t>Pearson’s</a:t>
            </a:r>
            <a:endParaRPr lang="pt-BR" sz="1600" dirty="0">
              <a:solidFill>
                <a:schemeClr val="tx1"/>
              </a:solidFill>
            </a:endParaRPr>
          </a:p>
          <a:p>
            <a:pPr marL="285750" indent="-285750">
              <a:buFont typeface="Arial" panose="020B0604020202020204" pitchFamily="34" charset="0"/>
              <a:buChar char="•"/>
            </a:pPr>
            <a:r>
              <a:rPr lang="pt-BR" sz="1600" dirty="0" err="1">
                <a:solidFill>
                  <a:schemeClr val="tx1"/>
                </a:solidFill>
              </a:rPr>
              <a:t>Spearman´s</a:t>
            </a:r>
            <a:endParaRPr lang="pt-BR" sz="1600" dirty="0">
              <a:solidFill>
                <a:schemeClr val="tx1"/>
              </a:solidFill>
            </a:endParaRPr>
          </a:p>
          <a:p>
            <a:pPr marL="285750" indent="-285750">
              <a:buFont typeface="Arial" panose="020B0604020202020204" pitchFamily="34" charset="0"/>
              <a:buChar char="•"/>
            </a:pPr>
            <a:r>
              <a:rPr lang="pt-BR" sz="1600" dirty="0">
                <a:solidFill>
                  <a:schemeClr val="tx1"/>
                </a:solidFill>
              </a:rPr>
              <a:t>Mutual </a:t>
            </a:r>
            <a:r>
              <a:rPr lang="pt-BR" sz="1600" dirty="0" err="1">
                <a:solidFill>
                  <a:schemeClr val="tx1"/>
                </a:solidFill>
              </a:rPr>
              <a:t>Information</a:t>
            </a:r>
            <a:endParaRPr lang="pt-BR" sz="1600" dirty="0">
              <a:solidFill>
                <a:schemeClr val="tx1"/>
              </a:solidFill>
            </a:endParaRPr>
          </a:p>
          <a:p>
            <a:pPr marL="285750" indent="-285750">
              <a:buFont typeface="Arial" panose="020B0604020202020204" pitchFamily="34" charset="0"/>
              <a:buChar char="•"/>
            </a:pPr>
            <a:endParaRPr lang="en-US" sz="1600" dirty="0">
              <a:solidFill>
                <a:schemeClr val="tx1"/>
              </a:solidFill>
            </a:endParaRPr>
          </a:p>
        </p:txBody>
      </p:sp>
      <p:sp>
        <p:nvSpPr>
          <p:cNvPr id="17" name="Retângulo 16"/>
          <p:cNvSpPr/>
          <p:nvPr/>
        </p:nvSpPr>
        <p:spPr>
          <a:xfrm>
            <a:off x="6015444"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a:solidFill>
                  <a:schemeClr val="tx1"/>
                </a:solidFill>
              </a:rPr>
              <a:t>Anova</a:t>
            </a:r>
          </a:p>
          <a:p>
            <a:pPr marL="285750" indent="-285750">
              <a:buFont typeface="Arial" panose="020B0604020202020204" pitchFamily="34" charset="0"/>
              <a:buChar char="•"/>
            </a:pPr>
            <a:r>
              <a:rPr lang="pt-BR" sz="1600" dirty="0" err="1">
                <a:solidFill>
                  <a:schemeClr val="tx1"/>
                </a:solidFill>
              </a:rPr>
              <a:t>Kendall’s</a:t>
            </a:r>
            <a:endParaRPr lang="en-US" sz="1600">
              <a:solidFill>
                <a:schemeClr val="tx1"/>
              </a:solidFill>
            </a:endParaRPr>
          </a:p>
          <a:p>
            <a:endParaRPr lang="en-US" sz="1600" dirty="0">
              <a:solidFill>
                <a:schemeClr val="tx1"/>
              </a:solidFill>
            </a:endParaRPr>
          </a:p>
        </p:txBody>
      </p:sp>
      <p:sp>
        <p:nvSpPr>
          <p:cNvPr id="18" name="Retângulo 17"/>
          <p:cNvSpPr/>
          <p:nvPr/>
        </p:nvSpPr>
        <p:spPr>
          <a:xfrm>
            <a:off x="8906689" y="4275907"/>
            <a:ext cx="2784568" cy="1341120"/>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pt-BR" sz="1600" dirty="0">
                <a:solidFill>
                  <a:schemeClr val="tx1"/>
                </a:solidFill>
              </a:rPr>
              <a:t>Chi-</a:t>
            </a:r>
            <a:r>
              <a:rPr lang="pt-BR" sz="1600" dirty="0" err="1">
                <a:solidFill>
                  <a:schemeClr val="tx1"/>
                </a:solidFill>
              </a:rPr>
              <a:t>Squared</a:t>
            </a:r>
            <a:endParaRPr lang="pt-BR" sz="1600" dirty="0">
              <a:solidFill>
                <a:schemeClr val="tx1"/>
              </a:solidFill>
            </a:endParaRPr>
          </a:p>
          <a:p>
            <a:pPr marL="285750" indent="-285750">
              <a:buFont typeface="Arial" panose="020B0604020202020204" pitchFamily="34" charset="0"/>
              <a:buChar char="•"/>
            </a:pPr>
            <a:r>
              <a:rPr lang="pt-BR" sz="1600" dirty="0">
                <a:solidFill>
                  <a:schemeClr val="tx1"/>
                </a:solidFill>
              </a:rPr>
              <a:t>Mutual </a:t>
            </a:r>
            <a:r>
              <a:rPr lang="pt-BR" sz="1600" dirty="0" err="1">
                <a:solidFill>
                  <a:schemeClr val="tx1"/>
                </a:solidFill>
              </a:rPr>
              <a:t>Information</a:t>
            </a:r>
            <a:endParaRPr lang="en-US" sz="1600" dirty="0">
              <a:solidFill>
                <a:schemeClr val="tx1"/>
              </a:solidFill>
            </a:endParaRPr>
          </a:p>
        </p:txBody>
      </p:sp>
      <p:cxnSp>
        <p:nvCxnSpPr>
          <p:cNvPr id="20" name="Conector de seta reta 19"/>
          <p:cNvCxnSpPr>
            <a:stCxn id="6" idx="2"/>
            <a:endCxn id="12" idx="0"/>
          </p:cNvCxnSpPr>
          <p:nvPr/>
        </p:nvCxnSpPr>
        <p:spPr>
          <a:xfrm flipH="1">
            <a:off x="3124199" y="1290912"/>
            <a:ext cx="2784568" cy="48156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p:cNvCxnSpPr>
            <a:stCxn id="6" idx="2"/>
            <a:endCxn id="11" idx="0"/>
          </p:cNvCxnSpPr>
          <p:nvPr/>
        </p:nvCxnSpPr>
        <p:spPr>
          <a:xfrm>
            <a:off x="5908767" y="1290912"/>
            <a:ext cx="2964181" cy="49938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p:cNvCxnSpPr/>
          <p:nvPr/>
        </p:nvCxnSpPr>
        <p:spPr>
          <a:xfrm>
            <a:off x="3051263" y="2255801"/>
            <a:ext cx="0" cy="26574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tângulo 22"/>
          <p:cNvSpPr/>
          <p:nvPr/>
        </p:nvSpPr>
        <p:spPr>
          <a:xfrm>
            <a:off x="7480664" y="2550250"/>
            <a:ext cx="278456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Output Variable</a:t>
            </a:r>
          </a:p>
        </p:txBody>
      </p:sp>
      <p:sp>
        <p:nvSpPr>
          <p:cNvPr id="24" name="Retângulo 23"/>
          <p:cNvSpPr/>
          <p:nvPr/>
        </p:nvSpPr>
        <p:spPr>
          <a:xfrm>
            <a:off x="1731915" y="2532425"/>
            <a:ext cx="2784568" cy="478972"/>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Output Variable</a:t>
            </a:r>
          </a:p>
        </p:txBody>
      </p:sp>
      <p:cxnSp>
        <p:nvCxnSpPr>
          <p:cNvPr id="27" name="Conector de seta reta 26"/>
          <p:cNvCxnSpPr/>
          <p:nvPr/>
        </p:nvCxnSpPr>
        <p:spPr>
          <a:xfrm>
            <a:off x="8943704" y="2273626"/>
            <a:ext cx="0" cy="26574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tângulo 28"/>
          <p:cNvSpPr/>
          <p:nvPr/>
        </p:nvSpPr>
        <p:spPr>
          <a:xfrm>
            <a:off x="3124199" y="3401647"/>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Categorical</a:t>
            </a:r>
          </a:p>
        </p:txBody>
      </p:sp>
      <p:sp>
        <p:nvSpPr>
          <p:cNvPr id="30" name="Retângulo 29"/>
          <p:cNvSpPr/>
          <p:nvPr/>
        </p:nvSpPr>
        <p:spPr>
          <a:xfrm>
            <a:off x="232954" y="3401647"/>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Numerical</a:t>
            </a:r>
          </a:p>
        </p:txBody>
      </p:sp>
      <p:cxnSp>
        <p:nvCxnSpPr>
          <p:cNvPr id="31" name="Conector de seta reta 30"/>
          <p:cNvCxnSpPr>
            <a:endCxn id="30" idx="0"/>
          </p:cNvCxnSpPr>
          <p:nvPr/>
        </p:nvCxnSpPr>
        <p:spPr>
          <a:xfrm flipH="1">
            <a:off x="1625238" y="3029356"/>
            <a:ext cx="1498961"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p:cNvCxnSpPr>
            <a:endCxn id="29" idx="0"/>
          </p:cNvCxnSpPr>
          <p:nvPr/>
        </p:nvCxnSpPr>
        <p:spPr>
          <a:xfrm>
            <a:off x="3124199" y="3029356"/>
            <a:ext cx="139228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tângulo 32"/>
          <p:cNvSpPr/>
          <p:nvPr/>
        </p:nvSpPr>
        <p:spPr>
          <a:xfrm>
            <a:off x="8906689" y="3415239"/>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Categorical</a:t>
            </a:r>
          </a:p>
        </p:txBody>
      </p:sp>
      <p:sp>
        <p:nvSpPr>
          <p:cNvPr id="34" name="Retângulo 33"/>
          <p:cNvSpPr/>
          <p:nvPr/>
        </p:nvSpPr>
        <p:spPr>
          <a:xfrm>
            <a:off x="6015444" y="3415239"/>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Numerical</a:t>
            </a:r>
          </a:p>
        </p:txBody>
      </p:sp>
      <p:cxnSp>
        <p:nvCxnSpPr>
          <p:cNvPr id="35" name="Conector de seta reta 34"/>
          <p:cNvCxnSpPr>
            <a:endCxn id="34" idx="0"/>
          </p:cNvCxnSpPr>
          <p:nvPr/>
        </p:nvCxnSpPr>
        <p:spPr>
          <a:xfrm flipH="1">
            <a:off x="7407728" y="3042948"/>
            <a:ext cx="1498961"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ector de seta reta 35"/>
          <p:cNvCxnSpPr>
            <a:endCxn id="33" idx="0"/>
          </p:cNvCxnSpPr>
          <p:nvPr/>
        </p:nvCxnSpPr>
        <p:spPr>
          <a:xfrm>
            <a:off x="8906689" y="3042948"/>
            <a:ext cx="139228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p:cNvCxnSpPr/>
          <p:nvPr/>
        </p:nvCxnSpPr>
        <p:spPr>
          <a:xfrm>
            <a:off x="1615438" y="3894211"/>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p:cNvCxnSpPr/>
          <p:nvPr/>
        </p:nvCxnSpPr>
        <p:spPr>
          <a:xfrm>
            <a:off x="4457149" y="3894211"/>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p:cNvCxnSpPr/>
          <p:nvPr/>
        </p:nvCxnSpPr>
        <p:spPr>
          <a:xfrm>
            <a:off x="7381057" y="3880619"/>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p:cNvCxnSpPr/>
          <p:nvPr/>
        </p:nvCxnSpPr>
        <p:spPr>
          <a:xfrm>
            <a:off x="10298973" y="3910930"/>
            <a:ext cx="9800" cy="3555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72503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p:cNvPicPr>
            <a:picLocks noChangeAspect="1"/>
          </p:cNvPicPr>
          <p:nvPr/>
        </p:nvPicPr>
        <p:blipFill>
          <a:blip r:embed="rId2"/>
          <a:stretch>
            <a:fillRect/>
          </a:stretch>
        </p:blipFill>
        <p:spPr>
          <a:xfrm>
            <a:off x="2731462" y="532654"/>
            <a:ext cx="7094835" cy="4625741"/>
          </a:xfrm>
          <a:prstGeom prst="rect">
            <a:avLst/>
          </a:prstGeom>
        </p:spPr>
      </p:pic>
    </p:spTree>
    <p:extLst>
      <p:ext uri="{BB962C8B-B14F-4D97-AF65-F5344CB8AC3E}">
        <p14:creationId xmlns:p14="http://schemas.microsoft.com/office/powerpoint/2010/main" val="31613741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p:cNvSpPr/>
          <p:nvPr/>
        </p:nvSpPr>
        <p:spPr>
          <a:xfrm>
            <a:off x="627017" y="390104"/>
            <a:ext cx="10197737" cy="2308324"/>
          </a:xfrm>
          <a:prstGeom prst="rect">
            <a:avLst/>
          </a:prstGeom>
        </p:spPr>
        <p:txBody>
          <a:bodyPr wrap="square">
            <a:spAutoFit/>
          </a:bodyPr>
          <a:lstStyle/>
          <a:p>
            <a:r>
              <a:rPr lang="en-US" dirty="0">
                <a:latin typeface="IBM Plex Sans"/>
              </a:rPr>
              <a:t>Another scenario is when both variables are nominal. In this case, we can choose from a couple of different correlation measures:</a:t>
            </a:r>
          </a:p>
          <a:p>
            <a:pPr>
              <a:buFont typeface="Arial" panose="020B0604020202020204" pitchFamily="34" charset="0"/>
              <a:buChar char="•"/>
            </a:pPr>
            <a:r>
              <a:rPr lang="en-US" b="1" dirty="0">
                <a:latin typeface="IBM Plex Sans"/>
              </a:rPr>
              <a:t>Cramer’s V</a:t>
            </a:r>
            <a:r>
              <a:rPr lang="en-US" dirty="0">
                <a:latin typeface="IBM Plex Sans"/>
              </a:rPr>
              <a:t>, which captures the association between the two variables into a number ranging from zero (no association) to one (one variable completely determined by the other).</a:t>
            </a:r>
          </a:p>
          <a:p>
            <a:pPr>
              <a:buFont typeface="Arial" panose="020B0604020202020204" pitchFamily="34" charset="0"/>
              <a:buChar char="•"/>
            </a:pPr>
            <a:r>
              <a:rPr lang="en-US" b="1" dirty="0">
                <a:latin typeface="IBM Plex Sans"/>
              </a:rPr>
              <a:t>Chi-Squared statistic</a:t>
            </a:r>
            <a:r>
              <a:rPr lang="en-US" dirty="0">
                <a:latin typeface="IBM Plex Sans"/>
              </a:rPr>
              <a:t> commonly used for testing for dependence between two variables. Lack of dependence suggests the particular feature is not useful.</a:t>
            </a:r>
          </a:p>
          <a:p>
            <a:pPr>
              <a:buFont typeface="Arial" panose="020B0604020202020204" pitchFamily="34" charset="0"/>
              <a:buChar char="•"/>
            </a:pPr>
            <a:r>
              <a:rPr lang="en-US" b="1" dirty="0">
                <a:latin typeface="IBM Plex Sans"/>
              </a:rPr>
              <a:t>Mutual information</a:t>
            </a:r>
            <a:r>
              <a:rPr lang="en-US" dirty="0">
                <a:latin typeface="IBM Plex Sans"/>
              </a:rPr>
              <a:t> a measure of mutual dependence between two variables that seeks to quantify the amount of information that one can extract from one variable about the other.</a:t>
            </a:r>
            <a:endParaRPr lang="en-US" b="0" i="0" dirty="0">
              <a:effectLst/>
              <a:latin typeface="IBM Plex Sans"/>
            </a:endParaRPr>
          </a:p>
        </p:txBody>
      </p:sp>
      <p:sp>
        <p:nvSpPr>
          <p:cNvPr id="3" name="Retângulo 2"/>
          <p:cNvSpPr/>
          <p:nvPr/>
        </p:nvSpPr>
        <p:spPr>
          <a:xfrm>
            <a:off x="627017" y="2952431"/>
            <a:ext cx="10763794" cy="923330"/>
          </a:xfrm>
          <a:prstGeom prst="rect">
            <a:avLst/>
          </a:prstGeom>
        </p:spPr>
        <p:txBody>
          <a:bodyPr wrap="square">
            <a:spAutoFit/>
          </a:bodyPr>
          <a:lstStyle/>
          <a:p>
            <a:r>
              <a:rPr lang="en-US" dirty="0">
                <a:latin typeface="IBM Plex Sans"/>
              </a:rPr>
              <a:t>Cramer’s V is known to overestimate the association’s strength. Mutual information, being a non-parametric method, requires larger data samples to yield reliable results. Finally, the Chi-Squared does not provide information about the strength of the relationship, but rather only whether it exists or not.</a:t>
            </a:r>
            <a:endParaRPr lang="en-US" dirty="0"/>
          </a:p>
        </p:txBody>
      </p:sp>
    </p:spTree>
    <p:extLst>
      <p:ext uri="{BB962C8B-B14F-4D97-AF65-F5344CB8AC3E}">
        <p14:creationId xmlns:p14="http://schemas.microsoft.com/office/powerpoint/2010/main" val="895234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554583" y="409303"/>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Machine Learning</a:t>
            </a:r>
          </a:p>
        </p:txBody>
      </p:sp>
      <p:sp>
        <p:nvSpPr>
          <p:cNvPr id="5" name="Retângulo 4"/>
          <p:cNvSpPr/>
          <p:nvPr/>
        </p:nvSpPr>
        <p:spPr>
          <a:xfrm>
            <a:off x="6015444" y="1245325"/>
            <a:ext cx="2784567"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Unsupervised Learning</a:t>
            </a:r>
          </a:p>
        </p:txBody>
      </p:sp>
      <p:sp>
        <p:nvSpPr>
          <p:cNvPr id="6" name="Retângulo 5"/>
          <p:cNvSpPr/>
          <p:nvPr/>
        </p:nvSpPr>
        <p:spPr>
          <a:xfrm>
            <a:off x="1552302" y="1273629"/>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Supervised Learning</a:t>
            </a:r>
          </a:p>
        </p:txBody>
      </p:sp>
      <p:sp>
        <p:nvSpPr>
          <p:cNvPr id="7" name="Retângulo 6"/>
          <p:cNvSpPr/>
          <p:nvPr/>
        </p:nvSpPr>
        <p:spPr>
          <a:xfrm>
            <a:off x="8906688" y="1273629"/>
            <a:ext cx="2784569"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Reinforcement Learning</a:t>
            </a:r>
          </a:p>
        </p:txBody>
      </p:sp>
      <p:sp>
        <p:nvSpPr>
          <p:cNvPr id="11" name="Retângulo 10"/>
          <p:cNvSpPr/>
          <p:nvPr/>
        </p:nvSpPr>
        <p:spPr>
          <a:xfrm>
            <a:off x="3124199"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Prediction</a:t>
            </a:r>
          </a:p>
        </p:txBody>
      </p:sp>
      <p:sp>
        <p:nvSpPr>
          <p:cNvPr id="12" name="Retângulo 11"/>
          <p:cNvSpPr/>
          <p:nvPr/>
        </p:nvSpPr>
        <p:spPr>
          <a:xfrm>
            <a:off x="232954"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Classification</a:t>
            </a:r>
          </a:p>
        </p:txBody>
      </p:sp>
      <p:sp>
        <p:nvSpPr>
          <p:cNvPr id="13" name="Retângulo 12"/>
          <p:cNvSpPr/>
          <p:nvPr/>
        </p:nvSpPr>
        <p:spPr>
          <a:xfrm>
            <a:off x="6015444"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Clustering</a:t>
            </a:r>
          </a:p>
        </p:txBody>
      </p:sp>
      <p:sp>
        <p:nvSpPr>
          <p:cNvPr id="14" name="Retângulo 13"/>
          <p:cNvSpPr/>
          <p:nvPr/>
        </p:nvSpPr>
        <p:spPr>
          <a:xfrm>
            <a:off x="8906689" y="2124892"/>
            <a:ext cx="2784568"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Decision Making</a:t>
            </a:r>
          </a:p>
        </p:txBody>
      </p:sp>
      <p:sp>
        <p:nvSpPr>
          <p:cNvPr id="15" name="Retângulo 14"/>
          <p:cNvSpPr/>
          <p:nvPr/>
        </p:nvSpPr>
        <p:spPr>
          <a:xfrm>
            <a:off x="3124199"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solidFill>
                  <a:schemeClr val="tx1"/>
                </a:solidFill>
              </a:rPr>
              <a:t>Linear </a:t>
            </a:r>
            <a:r>
              <a:rPr lang="en-US" sz="1400" dirty="0" smtClean="0">
                <a:solidFill>
                  <a:schemeClr val="tx1"/>
                </a:solidFill>
              </a:rPr>
              <a:t>Regression</a:t>
            </a:r>
          </a:p>
          <a:p>
            <a:pPr marL="342900" indent="-342900">
              <a:buFont typeface="+mj-lt"/>
              <a:buAutoNum type="arabicPeriod"/>
            </a:pPr>
            <a:r>
              <a:rPr lang="en-US" sz="1400" dirty="0" smtClean="0">
                <a:solidFill>
                  <a:schemeClr val="tx1"/>
                </a:solidFill>
              </a:rPr>
              <a:t>Polynomial Regression</a:t>
            </a:r>
            <a:endParaRPr lang="en-US" sz="1400" dirty="0">
              <a:solidFill>
                <a:schemeClr val="tx1"/>
              </a:solidFill>
            </a:endParaRPr>
          </a:p>
          <a:p>
            <a:pPr marL="342900" indent="-342900">
              <a:buFont typeface="+mj-lt"/>
              <a:buAutoNum type="arabicPeriod"/>
            </a:pPr>
            <a:r>
              <a:rPr lang="en-US" sz="1400" dirty="0">
                <a:solidFill>
                  <a:schemeClr val="tx1"/>
                </a:solidFill>
              </a:rPr>
              <a:t>Lasso Regression</a:t>
            </a:r>
          </a:p>
          <a:p>
            <a:pPr marL="342900" indent="-342900">
              <a:buFont typeface="+mj-lt"/>
              <a:buAutoNum type="arabicPeriod"/>
            </a:pPr>
            <a:r>
              <a:rPr lang="en-US" sz="1400" dirty="0">
                <a:solidFill>
                  <a:schemeClr val="tx1"/>
                </a:solidFill>
              </a:rPr>
              <a:t>Ridge Regression</a:t>
            </a:r>
          </a:p>
          <a:p>
            <a:pPr marL="342900" indent="-342900">
              <a:buFont typeface="+mj-lt"/>
              <a:buAutoNum type="arabicPeriod"/>
            </a:pPr>
            <a:r>
              <a:rPr lang="en-US" sz="1400" dirty="0" smtClean="0">
                <a:solidFill>
                  <a:schemeClr val="tx1"/>
                </a:solidFill>
              </a:rPr>
              <a:t>Support </a:t>
            </a:r>
            <a:r>
              <a:rPr lang="en-US" sz="1400" dirty="0">
                <a:solidFill>
                  <a:schemeClr val="tx1"/>
                </a:solidFill>
              </a:rPr>
              <a:t>vector R</a:t>
            </a:r>
            <a:r>
              <a:rPr lang="en-US" sz="1400" dirty="0" smtClean="0">
                <a:solidFill>
                  <a:schemeClr val="tx1"/>
                </a:solidFill>
              </a:rPr>
              <a:t>egression</a:t>
            </a:r>
          </a:p>
          <a:p>
            <a:pPr marL="342900" indent="-342900">
              <a:buFont typeface="+mj-lt"/>
              <a:buAutoNum type="arabicPeriod"/>
            </a:pPr>
            <a:r>
              <a:rPr lang="en-US" sz="1400" dirty="0">
                <a:solidFill>
                  <a:schemeClr val="tx1"/>
                </a:solidFill>
              </a:rPr>
              <a:t>Nearest Neighbors R</a:t>
            </a:r>
            <a:r>
              <a:rPr lang="en-US" sz="1400" dirty="0" smtClean="0">
                <a:solidFill>
                  <a:schemeClr val="tx1"/>
                </a:solidFill>
              </a:rPr>
              <a:t>egression</a:t>
            </a:r>
            <a:endParaRPr lang="en-US" sz="1400" dirty="0">
              <a:solidFill>
                <a:schemeClr val="tx1"/>
              </a:solidFill>
            </a:endParaRPr>
          </a:p>
          <a:p>
            <a:pPr marL="342900" indent="-342900">
              <a:buFont typeface="+mj-lt"/>
              <a:buAutoNum type="arabicPeriod"/>
            </a:pPr>
            <a:r>
              <a:rPr lang="en-US" sz="1400" dirty="0">
                <a:solidFill>
                  <a:schemeClr val="tx1"/>
                </a:solidFill>
              </a:rPr>
              <a:t>Decision </a:t>
            </a:r>
            <a:r>
              <a:rPr lang="en-US" sz="1400" dirty="0" smtClean="0">
                <a:solidFill>
                  <a:schemeClr val="tx1"/>
                </a:solidFill>
              </a:rPr>
              <a:t>tree</a:t>
            </a:r>
          </a:p>
          <a:p>
            <a:pPr marL="342900" indent="-342900">
              <a:buFont typeface="+mj-lt"/>
              <a:buAutoNum type="arabicPeriod"/>
            </a:pPr>
            <a:r>
              <a:rPr lang="en-US" sz="1400" dirty="0">
                <a:solidFill>
                  <a:schemeClr val="tx1"/>
                </a:solidFill>
              </a:rPr>
              <a:t>Random Forest</a:t>
            </a:r>
          </a:p>
          <a:p>
            <a:pPr marL="342900" indent="-342900">
              <a:buFont typeface="+mj-lt"/>
              <a:buAutoNum type="arabicPeriod"/>
            </a:pPr>
            <a:r>
              <a:rPr lang="en-US" sz="1400" dirty="0">
                <a:solidFill>
                  <a:schemeClr val="tx1"/>
                </a:solidFill>
              </a:rPr>
              <a:t>Extreme </a:t>
            </a:r>
            <a:r>
              <a:rPr lang="en-US" sz="1400" dirty="0" smtClean="0">
                <a:solidFill>
                  <a:schemeClr val="tx1"/>
                </a:solidFill>
              </a:rPr>
              <a:t> Gradient Boosting </a:t>
            </a:r>
            <a:r>
              <a:rPr lang="en-US" sz="1400" dirty="0">
                <a:solidFill>
                  <a:schemeClr val="tx1"/>
                </a:solidFill>
              </a:rPr>
              <a:t>(XGBoost)</a:t>
            </a:r>
            <a:endParaRPr lang="en-US" sz="1400" dirty="0" smtClean="0">
              <a:solidFill>
                <a:schemeClr val="tx1"/>
              </a:solidFill>
            </a:endParaRPr>
          </a:p>
          <a:p>
            <a:pPr marL="342900" indent="-342900">
              <a:buFont typeface="+mj-lt"/>
              <a:buAutoNum type="arabicPeriod"/>
            </a:pPr>
            <a:r>
              <a:rPr lang="en-US" sz="1400" dirty="0" smtClean="0">
                <a:solidFill>
                  <a:schemeClr val="tx1"/>
                </a:solidFill>
              </a:rPr>
              <a:t>Neural Network</a:t>
            </a:r>
            <a:endParaRPr lang="en-US" sz="1400" dirty="0">
              <a:solidFill>
                <a:schemeClr val="tx1"/>
              </a:solidFill>
            </a:endParaRPr>
          </a:p>
          <a:p>
            <a:pPr marL="285750" indent="-285750">
              <a:buFont typeface="Arial" panose="020B0604020202020204" pitchFamily="34" charset="0"/>
              <a:buChar char="•"/>
            </a:pPr>
            <a:endParaRPr lang="en-US" sz="1400" dirty="0">
              <a:solidFill>
                <a:schemeClr val="tx1"/>
              </a:solidFill>
            </a:endParaRPr>
          </a:p>
        </p:txBody>
      </p:sp>
      <p:sp>
        <p:nvSpPr>
          <p:cNvPr id="16" name="Retângulo 15"/>
          <p:cNvSpPr/>
          <p:nvPr/>
        </p:nvSpPr>
        <p:spPr>
          <a:xfrm>
            <a:off x="232954"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solidFill>
                  <a:schemeClr val="tx1"/>
                </a:solidFill>
              </a:rPr>
              <a:t>Naive Bayes</a:t>
            </a:r>
          </a:p>
          <a:p>
            <a:pPr marL="342900" indent="-342900">
              <a:buFont typeface="+mj-lt"/>
              <a:buAutoNum type="arabicPeriod"/>
            </a:pPr>
            <a:r>
              <a:rPr lang="en-US" sz="1400" dirty="0">
                <a:solidFill>
                  <a:schemeClr val="tx1"/>
                </a:solidFill>
              </a:rPr>
              <a:t>Logistic Regression</a:t>
            </a:r>
          </a:p>
          <a:p>
            <a:pPr marL="342900" indent="-342900">
              <a:buFont typeface="+mj-lt"/>
              <a:buAutoNum type="arabicPeriod"/>
            </a:pPr>
            <a:r>
              <a:rPr lang="en-US" sz="1400" dirty="0">
                <a:solidFill>
                  <a:schemeClr val="tx1"/>
                </a:solidFill>
              </a:rPr>
              <a:t>Decision</a:t>
            </a:r>
            <a:r>
              <a:rPr lang="pt-BR" sz="1400" dirty="0">
                <a:solidFill>
                  <a:schemeClr val="tx1"/>
                </a:solidFill>
              </a:rPr>
              <a:t> </a:t>
            </a:r>
            <a:r>
              <a:rPr lang="en-US" sz="1400" dirty="0">
                <a:solidFill>
                  <a:schemeClr val="tx1"/>
                </a:solidFill>
              </a:rPr>
              <a:t>Tree</a:t>
            </a:r>
          </a:p>
          <a:p>
            <a:pPr marL="342900" indent="-342900">
              <a:buFont typeface="+mj-lt"/>
              <a:buAutoNum type="arabicPeriod"/>
            </a:pPr>
            <a:r>
              <a:rPr lang="en-US" sz="1400" dirty="0">
                <a:solidFill>
                  <a:schemeClr val="tx1"/>
                </a:solidFill>
              </a:rPr>
              <a:t>Random Forest</a:t>
            </a:r>
          </a:p>
          <a:p>
            <a:pPr marL="342900" indent="-342900">
              <a:buFont typeface="+mj-lt"/>
              <a:buAutoNum type="arabicPeriod"/>
            </a:pPr>
            <a:r>
              <a:rPr lang="en-US" sz="1400" dirty="0" smtClean="0">
                <a:solidFill>
                  <a:schemeClr val="tx1"/>
                </a:solidFill>
              </a:rPr>
              <a:t>K-Nearest </a:t>
            </a:r>
            <a:r>
              <a:rPr lang="en-US" sz="1400" dirty="0" smtClean="0">
                <a:solidFill>
                  <a:schemeClr val="tx1"/>
                </a:solidFill>
              </a:rPr>
              <a:t>Neighbors(</a:t>
            </a:r>
            <a:r>
              <a:rPr lang="en-US" sz="1400" dirty="0" err="1" smtClean="0">
                <a:solidFill>
                  <a:schemeClr val="tx1"/>
                </a:solidFill>
              </a:rPr>
              <a:t>knn</a:t>
            </a:r>
            <a:r>
              <a:rPr lang="en-US" sz="1400" dirty="0" smtClean="0">
                <a:solidFill>
                  <a:schemeClr val="tx1"/>
                </a:solidFill>
              </a:rPr>
              <a:t>)</a:t>
            </a:r>
          </a:p>
          <a:p>
            <a:pPr marL="342900" indent="-342900">
              <a:buFont typeface="+mj-lt"/>
              <a:buAutoNum type="arabicPeriod"/>
            </a:pPr>
            <a:r>
              <a:rPr lang="en-US" sz="1400" dirty="0">
                <a:solidFill>
                  <a:schemeClr val="tx1"/>
                </a:solidFill>
              </a:rPr>
              <a:t>Neural </a:t>
            </a:r>
            <a:r>
              <a:rPr lang="en-US" sz="1400" dirty="0" smtClean="0">
                <a:solidFill>
                  <a:schemeClr val="tx1"/>
                </a:solidFill>
              </a:rPr>
              <a:t>Network</a:t>
            </a:r>
          </a:p>
          <a:p>
            <a:pPr marL="342900" indent="-342900">
              <a:buFont typeface="+mj-lt"/>
              <a:buAutoNum type="arabicPeriod"/>
            </a:pPr>
            <a:r>
              <a:rPr lang="en-US" sz="1400" dirty="0">
                <a:solidFill>
                  <a:schemeClr val="tx1"/>
                </a:solidFill>
              </a:rPr>
              <a:t>Support Vector Machine</a:t>
            </a:r>
          </a:p>
          <a:p>
            <a:pPr marL="342900" indent="-342900">
              <a:buFont typeface="+mj-lt"/>
              <a:buAutoNum type="arabicPeriod"/>
            </a:pPr>
            <a:endParaRPr lang="en-US" sz="1400" dirty="0">
              <a:solidFill>
                <a:schemeClr val="tx1"/>
              </a:solidFill>
            </a:endParaRPr>
          </a:p>
        </p:txBody>
      </p:sp>
      <p:sp>
        <p:nvSpPr>
          <p:cNvPr id="17" name="Retângulo 16"/>
          <p:cNvSpPr/>
          <p:nvPr/>
        </p:nvSpPr>
        <p:spPr>
          <a:xfrm>
            <a:off x="6015444"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solidFill>
                  <a:schemeClr val="tx1"/>
                </a:solidFill>
              </a:rPr>
              <a:t>K-means </a:t>
            </a:r>
          </a:p>
          <a:p>
            <a:pPr marL="285750" indent="-285750">
              <a:buFont typeface="Arial" panose="020B0604020202020204" pitchFamily="34" charset="0"/>
              <a:buChar char="•"/>
            </a:pPr>
            <a:r>
              <a:rPr lang="en-US" sz="1400" dirty="0">
                <a:solidFill>
                  <a:schemeClr val="tx1"/>
                </a:solidFill>
              </a:rPr>
              <a:t>Mean</a:t>
            </a:r>
            <a:r>
              <a:rPr lang="pt-BR" sz="1400" dirty="0">
                <a:solidFill>
                  <a:schemeClr val="tx1"/>
                </a:solidFill>
              </a:rPr>
              <a:t> Shift</a:t>
            </a:r>
          </a:p>
          <a:p>
            <a:pPr marL="285750" indent="-285750">
              <a:buFont typeface="Arial" panose="020B0604020202020204" pitchFamily="34" charset="0"/>
              <a:buChar char="•"/>
            </a:pPr>
            <a:r>
              <a:rPr lang="pt-BR" sz="1400" dirty="0">
                <a:solidFill>
                  <a:schemeClr val="tx1"/>
                </a:solidFill>
              </a:rPr>
              <a:t>DBSCAN </a:t>
            </a:r>
          </a:p>
          <a:p>
            <a:pPr marL="285750" indent="-285750">
              <a:buFont typeface="Arial" panose="020B0604020202020204" pitchFamily="34" charset="0"/>
              <a:buChar char="•"/>
            </a:pPr>
            <a:r>
              <a:rPr lang="en-US" sz="1400" dirty="0">
                <a:solidFill>
                  <a:schemeClr val="tx1"/>
                </a:solidFill>
              </a:rPr>
              <a:t>Agglomerative</a:t>
            </a:r>
            <a:r>
              <a:rPr lang="pt-BR" sz="1400" dirty="0">
                <a:solidFill>
                  <a:schemeClr val="tx1"/>
                </a:solidFill>
              </a:rPr>
              <a:t> </a:t>
            </a:r>
            <a:r>
              <a:rPr lang="en-US" sz="1400" dirty="0">
                <a:solidFill>
                  <a:schemeClr val="tx1"/>
                </a:solidFill>
              </a:rPr>
              <a:t>Hierarchical</a:t>
            </a:r>
          </a:p>
          <a:p>
            <a:pPr marL="285750" indent="-285750">
              <a:buFont typeface="Arial" panose="020B0604020202020204" pitchFamily="34" charset="0"/>
              <a:buChar char="•"/>
            </a:pPr>
            <a:r>
              <a:rPr lang="en-US" sz="1400" dirty="0">
                <a:solidFill>
                  <a:schemeClr val="tx1"/>
                </a:solidFill>
              </a:rPr>
              <a:t>Gaussian Mixture</a:t>
            </a:r>
          </a:p>
          <a:p>
            <a:pPr marL="285750" indent="-285750">
              <a:buFont typeface="Arial" panose="020B0604020202020204" pitchFamily="34" charset="0"/>
              <a:buChar char="•"/>
            </a:pPr>
            <a:r>
              <a:rPr lang="en-US" sz="1400" dirty="0">
                <a:solidFill>
                  <a:schemeClr val="tx1"/>
                </a:solidFill>
              </a:rPr>
              <a:t>Lantent Dirichlet analysis</a:t>
            </a:r>
          </a:p>
          <a:p>
            <a:pPr marL="285750" indent="-285750">
              <a:buFont typeface="Arial" panose="020B0604020202020204" pitchFamily="34" charset="0"/>
              <a:buChar char="•"/>
            </a:pPr>
            <a:r>
              <a:rPr lang="en-US" sz="1400" dirty="0">
                <a:solidFill>
                  <a:schemeClr val="tx1"/>
                </a:solidFill>
              </a:rPr>
              <a:t>SVD </a:t>
            </a:r>
          </a:p>
          <a:p>
            <a:pPr marL="285750" indent="-285750">
              <a:buFont typeface="Arial" panose="020B0604020202020204" pitchFamily="34" charset="0"/>
              <a:buChar char="•"/>
            </a:pPr>
            <a:r>
              <a:rPr lang="en-US" sz="1400" dirty="0">
                <a:solidFill>
                  <a:schemeClr val="tx1"/>
                </a:solidFill>
              </a:rPr>
              <a:t>KNN</a:t>
            </a:r>
          </a:p>
          <a:p>
            <a:pPr marL="285750" indent="-285750">
              <a:buFont typeface="Arial" panose="020B0604020202020204" pitchFamily="34" charset="0"/>
              <a:buChar char="•"/>
            </a:pPr>
            <a:endParaRPr lang="en-US" sz="1400" dirty="0">
              <a:solidFill>
                <a:schemeClr val="tx1"/>
              </a:solidFill>
            </a:endParaRPr>
          </a:p>
        </p:txBody>
      </p:sp>
      <p:sp>
        <p:nvSpPr>
          <p:cNvPr id="18" name="Retângulo 17"/>
          <p:cNvSpPr/>
          <p:nvPr/>
        </p:nvSpPr>
        <p:spPr>
          <a:xfrm>
            <a:off x="8906689" y="3039292"/>
            <a:ext cx="2784568" cy="303058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solidFill>
                  <a:schemeClr val="tx1"/>
                </a:solidFill>
              </a:rPr>
              <a:t>Q-Learning</a:t>
            </a:r>
          </a:p>
          <a:p>
            <a:pPr marL="285750" indent="-285750">
              <a:buFont typeface="Arial" panose="020B0604020202020204" pitchFamily="34" charset="0"/>
              <a:buChar char="•"/>
            </a:pPr>
            <a:r>
              <a:rPr lang="pt-BR" sz="1400" dirty="0">
                <a:solidFill>
                  <a:schemeClr val="tx1"/>
                </a:solidFill>
              </a:rPr>
              <a:t>R-Learning</a:t>
            </a:r>
          </a:p>
          <a:p>
            <a:pPr marL="285750" indent="-285750">
              <a:buFont typeface="Arial" panose="020B0604020202020204" pitchFamily="34" charset="0"/>
              <a:buChar char="•"/>
            </a:pPr>
            <a:r>
              <a:rPr lang="pt-BR" sz="1400" dirty="0">
                <a:solidFill>
                  <a:schemeClr val="tx1"/>
                </a:solidFill>
              </a:rPr>
              <a:t>TD-Learning</a:t>
            </a:r>
          </a:p>
          <a:p>
            <a:pPr marL="285750" indent="-285750">
              <a:buFont typeface="Arial" panose="020B0604020202020204" pitchFamily="34" charset="0"/>
              <a:buChar char="•"/>
            </a:pPr>
            <a:r>
              <a:rPr lang="pt-BR" sz="1400" dirty="0">
                <a:solidFill>
                  <a:schemeClr val="tx1"/>
                </a:solidFill>
              </a:rPr>
              <a:t>Monte carlos</a:t>
            </a:r>
          </a:p>
          <a:p>
            <a:pPr marL="285750" indent="-285750">
              <a:buFont typeface="Arial" panose="020B0604020202020204" pitchFamily="34" charset="0"/>
              <a:buChar char="•"/>
            </a:pPr>
            <a:r>
              <a:rPr lang="pt-BR" sz="1400" dirty="0">
                <a:solidFill>
                  <a:schemeClr val="tx1"/>
                </a:solidFill>
              </a:rPr>
              <a:t>Markov decision process</a:t>
            </a:r>
          </a:p>
          <a:p>
            <a:pPr marL="285750" indent="-285750">
              <a:buFont typeface="Arial" panose="020B0604020202020204" pitchFamily="34" charset="0"/>
              <a:buChar char="•"/>
            </a:pPr>
            <a:endParaRPr lang="en-US" sz="1400" dirty="0">
              <a:solidFill>
                <a:schemeClr val="tx1"/>
              </a:solidFill>
            </a:endParaRPr>
          </a:p>
        </p:txBody>
      </p:sp>
      <p:cxnSp>
        <p:nvCxnSpPr>
          <p:cNvPr id="20" name="Conector de seta reta 19"/>
          <p:cNvCxnSpPr>
            <a:stCxn id="6" idx="2"/>
            <a:endCxn id="12" idx="0"/>
          </p:cNvCxnSpPr>
          <p:nvPr/>
        </p:nvCxnSpPr>
        <p:spPr>
          <a:xfrm flipH="1">
            <a:off x="1625238" y="1752601"/>
            <a:ext cx="1498961"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p:cNvCxnSpPr>
            <a:stCxn id="6" idx="2"/>
            <a:endCxn id="11" idx="0"/>
          </p:cNvCxnSpPr>
          <p:nvPr/>
        </p:nvCxnSpPr>
        <p:spPr>
          <a:xfrm>
            <a:off x="3124199" y="1752601"/>
            <a:ext cx="1392284"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p:cNvCxnSpPr>
            <a:stCxn id="5" idx="2"/>
            <a:endCxn id="13" idx="0"/>
          </p:cNvCxnSpPr>
          <p:nvPr/>
        </p:nvCxnSpPr>
        <p:spPr>
          <a:xfrm>
            <a:off x="7407728" y="1724297"/>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p:cNvCxnSpPr>
            <a:stCxn id="7" idx="2"/>
            <a:endCxn id="14" idx="0"/>
          </p:cNvCxnSpPr>
          <p:nvPr/>
        </p:nvCxnSpPr>
        <p:spPr>
          <a:xfrm>
            <a:off x="10298973" y="1752601"/>
            <a:ext cx="0" cy="37229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de seta reta 40"/>
          <p:cNvCxnSpPr/>
          <p:nvPr/>
        </p:nvCxnSpPr>
        <p:spPr>
          <a:xfrm>
            <a:off x="7407727" y="2603864"/>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p:cNvCxnSpPr/>
          <p:nvPr/>
        </p:nvCxnSpPr>
        <p:spPr>
          <a:xfrm>
            <a:off x="10308768" y="2603863"/>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onector de seta reta 42"/>
          <p:cNvCxnSpPr/>
          <p:nvPr/>
        </p:nvCxnSpPr>
        <p:spPr>
          <a:xfrm>
            <a:off x="4556757" y="2638697"/>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p:cNvCxnSpPr/>
          <p:nvPr/>
        </p:nvCxnSpPr>
        <p:spPr>
          <a:xfrm>
            <a:off x="1552302" y="2608217"/>
            <a:ext cx="0" cy="4005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13591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792479" y="592182"/>
            <a:ext cx="10746378" cy="5712824"/>
          </a:xfrm>
          <a:prstGeom prst="rect">
            <a:avLst/>
          </a:prstGeom>
          <a:solidFill>
            <a:srgbClr val="DE6F6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800" dirty="0" smtClean="0">
                <a:solidFill>
                  <a:schemeClr val="tx1"/>
                </a:solidFill>
              </a:rPr>
              <a:t>Draft</a:t>
            </a:r>
            <a:endParaRPr lang="en-US" sz="4800" dirty="0">
              <a:solidFill>
                <a:schemeClr val="tx1"/>
              </a:solidFill>
            </a:endParaRPr>
          </a:p>
        </p:txBody>
      </p:sp>
    </p:spTree>
    <p:extLst>
      <p:ext uri="{BB962C8B-B14F-4D97-AF65-F5344CB8AC3E}">
        <p14:creationId xmlns:p14="http://schemas.microsoft.com/office/powerpoint/2010/main" val="40587234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554583" y="409303"/>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Machine Learning</a:t>
            </a:r>
          </a:p>
        </p:txBody>
      </p:sp>
      <p:sp>
        <p:nvSpPr>
          <p:cNvPr id="3" name="TextBox 2">
            <a:extLst>
              <a:ext uri="{FF2B5EF4-FFF2-40B4-BE49-F238E27FC236}">
                <a16:creationId xmlns="" xmlns:a16="http://schemas.microsoft.com/office/drawing/2014/main" id="{5011653A-7E7E-1045-ABF3-C761A35E08AB}"/>
              </a:ext>
            </a:extLst>
          </p:cNvPr>
          <p:cNvSpPr txBox="1"/>
          <p:nvPr/>
        </p:nvSpPr>
        <p:spPr>
          <a:xfrm>
            <a:off x="536994" y="1154358"/>
            <a:ext cx="8270576" cy="1754326"/>
          </a:xfrm>
          <a:prstGeom prst="rect">
            <a:avLst/>
          </a:prstGeom>
          <a:noFill/>
        </p:spPr>
        <p:txBody>
          <a:bodyPr wrap="square">
            <a:spAutoFit/>
          </a:bodyPr>
          <a:lstStyle/>
          <a:p>
            <a:pPr algn="l"/>
            <a:r>
              <a:rPr lang="pt-PT" b="0" i="0" u="none" strike="noStrike" dirty="0">
                <a:solidFill>
                  <a:srgbClr val="000000"/>
                </a:solidFill>
                <a:effectLst/>
                <a:latin typeface="Georgia" panose="02040502050405020303" pitchFamily="18" charset="0"/>
              </a:rPr>
              <a:t>Os cálculos variam a depender do tipo de </a:t>
            </a:r>
            <a:r>
              <a:rPr lang="pt-PT" b="0" i="0" u="none" strike="noStrike" dirty="0" err="1">
                <a:solidFill>
                  <a:srgbClr val="000000"/>
                </a:solidFill>
                <a:effectLst/>
                <a:latin typeface="Georgia" panose="02040502050405020303" pitchFamily="18" charset="0"/>
              </a:rPr>
              <a:t>clusterização</a:t>
            </a:r>
            <a:r>
              <a:rPr lang="pt-PT" b="0" i="0" u="none" strike="noStrike" dirty="0">
                <a:solidFill>
                  <a:srgbClr val="000000"/>
                </a:solidFill>
                <a:effectLst/>
                <a:latin typeface="Georgia" panose="02040502050405020303" pitchFamily="18" charset="0"/>
              </a:rPr>
              <a:t> que é adotado. Veremos, a seguir, alguns tipos:</a:t>
            </a:r>
          </a:p>
          <a:p>
            <a:pPr algn="l">
              <a:buFont typeface="Arial" panose="020B0604020202020204" pitchFamily="34" charset="0"/>
              <a:buChar char="•"/>
            </a:pPr>
            <a:r>
              <a:rPr lang="pt-PT" b="0" i="0" dirty="0">
                <a:solidFill>
                  <a:srgbClr val="000000"/>
                </a:solidFill>
                <a:effectLst/>
                <a:latin typeface="Georgia" panose="02040502050405020303" pitchFamily="18" charset="0"/>
              </a:rPr>
              <a:t>modelos de conectividade;</a:t>
            </a:r>
            <a:endParaRPr lang="pt-PT" b="0" i="0" dirty="0">
              <a:solidFill>
                <a:srgbClr val="000000"/>
              </a:solidFill>
              <a:effectLst/>
              <a:latin typeface="Times New Roman" panose="02020603050405020304" pitchFamily="18" charset="0"/>
            </a:endParaRPr>
          </a:p>
          <a:p>
            <a:pPr algn="l">
              <a:buFont typeface="Arial" panose="020B0604020202020204" pitchFamily="34" charset="0"/>
              <a:buChar char="•"/>
            </a:pPr>
            <a:r>
              <a:rPr lang="pt-PT" b="0" i="0" dirty="0">
                <a:solidFill>
                  <a:srgbClr val="000000"/>
                </a:solidFill>
                <a:effectLst/>
                <a:latin typeface="Georgia" panose="02040502050405020303" pitchFamily="18" charset="0"/>
              </a:rPr>
              <a:t>modelos de </a:t>
            </a:r>
            <a:r>
              <a:rPr lang="pt-PT" b="0" i="0" dirty="0" err="1">
                <a:solidFill>
                  <a:srgbClr val="000000"/>
                </a:solidFill>
                <a:effectLst/>
                <a:latin typeface="Georgia" panose="02040502050405020303" pitchFamily="18" charset="0"/>
              </a:rPr>
              <a:t>centróide</a:t>
            </a:r>
            <a:r>
              <a:rPr lang="pt-PT" b="0" i="0" dirty="0">
                <a:solidFill>
                  <a:srgbClr val="000000"/>
                </a:solidFill>
                <a:effectLst/>
                <a:latin typeface="Georgia" panose="02040502050405020303" pitchFamily="18" charset="0"/>
              </a:rPr>
              <a:t>;</a:t>
            </a:r>
            <a:endParaRPr lang="pt-PT" b="0" i="0" dirty="0">
              <a:solidFill>
                <a:srgbClr val="000000"/>
              </a:solidFill>
              <a:effectLst/>
              <a:latin typeface="Times New Roman" panose="02020603050405020304" pitchFamily="18" charset="0"/>
            </a:endParaRPr>
          </a:p>
          <a:p>
            <a:pPr algn="l">
              <a:buFont typeface="Arial" panose="020B0604020202020204" pitchFamily="34" charset="0"/>
              <a:buChar char="•"/>
            </a:pPr>
            <a:r>
              <a:rPr lang="pt-PT" b="0" i="0" dirty="0">
                <a:solidFill>
                  <a:srgbClr val="000000"/>
                </a:solidFill>
                <a:effectLst/>
                <a:latin typeface="Georgia" panose="02040502050405020303" pitchFamily="18" charset="0"/>
              </a:rPr>
              <a:t>modelos de distribuição;</a:t>
            </a:r>
            <a:endParaRPr lang="pt-PT" b="0" i="0" dirty="0">
              <a:solidFill>
                <a:srgbClr val="000000"/>
              </a:solidFill>
              <a:effectLst/>
              <a:latin typeface="Times New Roman" panose="02020603050405020304" pitchFamily="18" charset="0"/>
            </a:endParaRPr>
          </a:p>
          <a:p>
            <a:pPr algn="l">
              <a:buFont typeface="Arial" panose="020B0604020202020204" pitchFamily="34" charset="0"/>
              <a:buChar char="•"/>
            </a:pPr>
            <a:r>
              <a:rPr lang="pt-PT" b="0" i="0" dirty="0">
                <a:solidFill>
                  <a:srgbClr val="000000"/>
                </a:solidFill>
                <a:effectLst/>
                <a:latin typeface="Georgia" panose="02040502050405020303" pitchFamily="18" charset="0"/>
              </a:rPr>
              <a:t>modelos de densidade.</a:t>
            </a:r>
            <a:endParaRPr lang="pt-PT" b="0" i="0" dirty="0">
              <a:solidFill>
                <a:srgbClr val="000000"/>
              </a:solidFill>
              <a:effectLst/>
              <a:latin typeface="Times New Roman" panose="02020603050405020304" pitchFamily="18" charset="0"/>
            </a:endParaRPr>
          </a:p>
        </p:txBody>
      </p:sp>
      <p:sp>
        <p:nvSpPr>
          <p:cNvPr id="9" name="TextBox 8">
            <a:extLst>
              <a:ext uri="{FF2B5EF4-FFF2-40B4-BE49-F238E27FC236}">
                <a16:creationId xmlns="" xmlns:a16="http://schemas.microsoft.com/office/drawing/2014/main" id="{327BFE51-F331-49AA-EA6D-B0B099F31F3A}"/>
              </a:ext>
            </a:extLst>
          </p:cNvPr>
          <p:cNvSpPr txBox="1"/>
          <p:nvPr/>
        </p:nvSpPr>
        <p:spPr>
          <a:xfrm>
            <a:off x="813038" y="3174767"/>
            <a:ext cx="10151135" cy="2308324"/>
          </a:xfrm>
          <a:prstGeom prst="rect">
            <a:avLst/>
          </a:prstGeom>
          <a:noFill/>
        </p:spPr>
        <p:txBody>
          <a:bodyPr wrap="square">
            <a:spAutoFit/>
          </a:bodyPr>
          <a:lstStyle/>
          <a:p>
            <a:pPr algn="l"/>
            <a:r>
              <a:rPr lang="pt-PT" b="0" i="0" u="none" strike="noStrike" dirty="0">
                <a:solidFill>
                  <a:srgbClr val="000000"/>
                </a:solidFill>
                <a:effectLst/>
                <a:latin typeface="Georgia" panose="02040502050405020303" pitchFamily="18" charset="0"/>
              </a:rPr>
              <a:t>Os dois definem classes para seus dados. A </a:t>
            </a:r>
            <a:r>
              <a:rPr lang="pt-PT" b="1" i="0" u="none" strike="noStrike" dirty="0">
                <a:solidFill>
                  <a:srgbClr val="000000"/>
                </a:solidFill>
                <a:effectLst/>
                <a:latin typeface="Georgia" panose="02040502050405020303" pitchFamily="18" charset="0"/>
              </a:rPr>
              <a:t>classificação</a:t>
            </a:r>
            <a:r>
              <a:rPr lang="pt-PT" b="0" i="0" u="none" strike="noStrike" dirty="0">
                <a:solidFill>
                  <a:srgbClr val="000000"/>
                </a:solidFill>
                <a:effectLst/>
                <a:latin typeface="Georgia" panose="02040502050405020303" pitchFamily="18" charset="0"/>
              </a:rPr>
              <a:t> agrupa os dados em determinadas categorias, ao passo que a </a:t>
            </a:r>
            <a:r>
              <a:rPr lang="pt-PT" b="1" i="0" u="none" strike="noStrike" dirty="0" err="1">
                <a:solidFill>
                  <a:srgbClr val="000000"/>
                </a:solidFill>
                <a:effectLst/>
                <a:latin typeface="Georgia" panose="02040502050405020303" pitchFamily="18" charset="0"/>
              </a:rPr>
              <a:t>clusterização</a:t>
            </a:r>
            <a:r>
              <a:rPr lang="pt-PT" b="0" i="0" u="none" strike="noStrike" dirty="0">
                <a:solidFill>
                  <a:srgbClr val="000000"/>
                </a:solidFill>
                <a:effectLst/>
                <a:latin typeface="Georgia" panose="02040502050405020303" pitchFamily="18" charset="0"/>
              </a:rPr>
              <a:t> utiliza a noção de clusters. </a:t>
            </a:r>
          </a:p>
          <a:p>
            <a:pPr algn="l"/>
            <a:r>
              <a:rPr lang="pt-PT" b="0" i="0" u="none" strike="noStrike" dirty="0">
                <a:solidFill>
                  <a:srgbClr val="000000"/>
                </a:solidFill>
                <a:effectLst/>
                <a:latin typeface="Georgia" panose="02040502050405020303" pitchFamily="18" charset="0"/>
              </a:rPr>
              <a:t>Contudo,</a:t>
            </a:r>
            <a:r>
              <a:rPr lang="pt-PT" b="1" i="0" u="none" strike="noStrike" dirty="0">
                <a:solidFill>
                  <a:srgbClr val="000000"/>
                </a:solidFill>
                <a:effectLst/>
                <a:latin typeface="Georgia" panose="02040502050405020303" pitchFamily="18" charset="0"/>
              </a:rPr>
              <a:t> a principal diferença é a supervisão</a:t>
            </a:r>
            <a:r>
              <a:rPr lang="pt-PT" b="0" i="0" u="none" strike="noStrike" dirty="0">
                <a:solidFill>
                  <a:srgbClr val="000000"/>
                </a:solidFill>
                <a:effectLst/>
                <a:latin typeface="Georgia" panose="02040502050405020303" pitchFamily="18" charset="0"/>
              </a:rPr>
              <a:t>. A classificação é um clássico método supervisionado, em que o número de categorias para os dados é definido de antemão, com base nos dados de entrada. Ou seja, a pessoa cientista transmite dados com os rótulos prévios de saída, solicitando que o sistema aprenda como aqueles dados geram aquelas saídas. </a:t>
            </a:r>
          </a:p>
          <a:p>
            <a:pPr algn="l"/>
            <a:endParaRPr lang="pt-PT" dirty="0">
              <a:solidFill>
                <a:srgbClr val="000000"/>
              </a:solidFill>
              <a:latin typeface="Georgia" panose="02040502050405020303" pitchFamily="18" charset="0"/>
            </a:endParaRPr>
          </a:p>
          <a:p>
            <a:pPr algn="l"/>
            <a:r>
              <a:rPr lang="pt-PT" b="0" i="0" u="none" strike="noStrike" dirty="0">
                <a:solidFill>
                  <a:srgbClr val="000000"/>
                </a:solidFill>
                <a:effectLst/>
                <a:latin typeface="Georgia" panose="02040502050405020303" pitchFamily="18" charset="0"/>
                <a:hlinkClick r:id="rId2"/>
              </a:rPr>
              <a:t>https://blog.somostera.com/data-science/clusteriza%C3%A7%C3%A3o-de-dados</a:t>
            </a:r>
            <a:r>
              <a:rPr lang="pt-PT" b="0" i="0" u="none" strike="noStrike" dirty="0">
                <a:solidFill>
                  <a:srgbClr val="000000"/>
                </a:solidFill>
                <a:effectLst/>
                <a:latin typeface="Georgia" panose="02040502050405020303" pitchFamily="18" charset="0"/>
              </a:rPr>
              <a:t> </a:t>
            </a:r>
          </a:p>
        </p:txBody>
      </p:sp>
    </p:spTree>
    <p:extLst>
      <p:ext uri="{BB962C8B-B14F-4D97-AF65-F5344CB8AC3E}">
        <p14:creationId xmlns:p14="http://schemas.microsoft.com/office/powerpoint/2010/main" val="1506274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554583" y="409303"/>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Machine Learning</a:t>
            </a:r>
          </a:p>
        </p:txBody>
      </p:sp>
      <p:sp>
        <p:nvSpPr>
          <p:cNvPr id="3" name="TextBox 2">
            <a:extLst>
              <a:ext uri="{FF2B5EF4-FFF2-40B4-BE49-F238E27FC236}">
                <a16:creationId xmlns="" xmlns:a16="http://schemas.microsoft.com/office/drawing/2014/main" id="{5011653A-7E7E-1045-ABF3-C761A35E08AB}"/>
              </a:ext>
            </a:extLst>
          </p:cNvPr>
          <p:cNvSpPr txBox="1"/>
          <p:nvPr/>
        </p:nvSpPr>
        <p:spPr>
          <a:xfrm>
            <a:off x="536994" y="1154358"/>
            <a:ext cx="8270576" cy="1754326"/>
          </a:xfrm>
          <a:prstGeom prst="rect">
            <a:avLst/>
          </a:prstGeom>
          <a:noFill/>
        </p:spPr>
        <p:txBody>
          <a:bodyPr wrap="square">
            <a:spAutoFit/>
          </a:bodyPr>
          <a:lstStyle/>
          <a:p>
            <a:pPr algn="l"/>
            <a:r>
              <a:rPr lang="pt-PT" b="0" i="0" u="none" strike="noStrike" dirty="0">
                <a:solidFill>
                  <a:srgbClr val="000000"/>
                </a:solidFill>
                <a:effectLst/>
                <a:latin typeface="Georgia" panose="02040502050405020303" pitchFamily="18" charset="0"/>
              </a:rPr>
              <a:t>Os cálculos variam a depender do tipo de </a:t>
            </a:r>
            <a:r>
              <a:rPr lang="pt-PT" b="0" i="0" u="none" strike="noStrike" dirty="0" err="1">
                <a:solidFill>
                  <a:srgbClr val="000000"/>
                </a:solidFill>
                <a:effectLst/>
                <a:latin typeface="Georgia" panose="02040502050405020303" pitchFamily="18" charset="0"/>
              </a:rPr>
              <a:t>clusterização</a:t>
            </a:r>
            <a:r>
              <a:rPr lang="pt-PT" b="0" i="0" u="none" strike="noStrike" dirty="0">
                <a:solidFill>
                  <a:srgbClr val="000000"/>
                </a:solidFill>
                <a:effectLst/>
                <a:latin typeface="Georgia" panose="02040502050405020303" pitchFamily="18" charset="0"/>
              </a:rPr>
              <a:t> que é adotado. Veremos, a seguir, alguns tipos:</a:t>
            </a:r>
          </a:p>
          <a:p>
            <a:pPr algn="l">
              <a:buFont typeface="Arial" panose="020B0604020202020204" pitchFamily="34" charset="0"/>
              <a:buChar char="•"/>
            </a:pPr>
            <a:r>
              <a:rPr lang="pt-PT" b="0" i="0" dirty="0">
                <a:solidFill>
                  <a:srgbClr val="000000"/>
                </a:solidFill>
                <a:effectLst/>
                <a:latin typeface="Georgia" panose="02040502050405020303" pitchFamily="18" charset="0"/>
              </a:rPr>
              <a:t>modelos de conectividade;</a:t>
            </a:r>
            <a:endParaRPr lang="pt-PT" b="0" i="0" dirty="0">
              <a:solidFill>
                <a:srgbClr val="000000"/>
              </a:solidFill>
              <a:effectLst/>
              <a:latin typeface="Times New Roman" panose="02020603050405020304" pitchFamily="18" charset="0"/>
            </a:endParaRPr>
          </a:p>
          <a:p>
            <a:pPr algn="l">
              <a:buFont typeface="Arial" panose="020B0604020202020204" pitchFamily="34" charset="0"/>
              <a:buChar char="•"/>
            </a:pPr>
            <a:r>
              <a:rPr lang="pt-PT" b="0" i="0" dirty="0">
                <a:solidFill>
                  <a:srgbClr val="000000"/>
                </a:solidFill>
                <a:effectLst/>
                <a:latin typeface="Georgia" panose="02040502050405020303" pitchFamily="18" charset="0"/>
              </a:rPr>
              <a:t>modelos de </a:t>
            </a:r>
            <a:r>
              <a:rPr lang="pt-PT" b="0" i="0" dirty="0" err="1">
                <a:solidFill>
                  <a:srgbClr val="000000"/>
                </a:solidFill>
                <a:effectLst/>
                <a:latin typeface="Georgia" panose="02040502050405020303" pitchFamily="18" charset="0"/>
              </a:rPr>
              <a:t>centróide</a:t>
            </a:r>
            <a:r>
              <a:rPr lang="pt-PT" b="0" i="0" dirty="0">
                <a:solidFill>
                  <a:srgbClr val="000000"/>
                </a:solidFill>
                <a:effectLst/>
                <a:latin typeface="Georgia" panose="02040502050405020303" pitchFamily="18" charset="0"/>
              </a:rPr>
              <a:t>;</a:t>
            </a:r>
            <a:endParaRPr lang="pt-PT" b="0" i="0" dirty="0">
              <a:solidFill>
                <a:srgbClr val="000000"/>
              </a:solidFill>
              <a:effectLst/>
              <a:latin typeface="Times New Roman" panose="02020603050405020304" pitchFamily="18" charset="0"/>
            </a:endParaRPr>
          </a:p>
          <a:p>
            <a:pPr algn="l">
              <a:buFont typeface="Arial" panose="020B0604020202020204" pitchFamily="34" charset="0"/>
              <a:buChar char="•"/>
            </a:pPr>
            <a:r>
              <a:rPr lang="pt-PT" b="0" i="0" dirty="0">
                <a:solidFill>
                  <a:srgbClr val="000000"/>
                </a:solidFill>
                <a:effectLst/>
                <a:latin typeface="Georgia" panose="02040502050405020303" pitchFamily="18" charset="0"/>
              </a:rPr>
              <a:t>modelos de distribuição;</a:t>
            </a:r>
            <a:endParaRPr lang="pt-PT" b="0" i="0" dirty="0">
              <a:solidFill>
                <a:srgbClr val="000000"/>
              </a:solidFill>
              <a:effectLst/>
              <a:latin typeface="Times New Roman" panose="02020603050405020304" pitchFamily="18" charset="0"/>
            </a:endParaRPr>
          </a:p>
          <a:p>
            <a:pPr algn="l">
              <a:buFont typeface="Arial" panose="020B0604020202020204" pitchFamily="34" charset="0"/>
              <a:buChar char="•"/>
            </a:pPr>
            <a:r>
              <a:rPr lang="pt-PT" b="0" i="0" dirty="0">
                <a:solidFill>
                  <a:srgbClr val="000000"/>
                </a:solidFill>
                <a:effectLst/>
                <a:latin typeface="Georgia" panose="02040502050405020303" pitchFamily="18" charset="0"/>
              </a:rPr>
              <a:t>modelos de densidade.</a:t>
            </a:r>
            <a:endParaRPr lang="pt-PT" b="0" i="0" dirty="0">
              <a:solidFill>
                <a:srgbClr val="000000"/>
              </a:solidFill>
              <a:effectLst/>
              <a:latin typeface="Times New Roman" panose="02020603050405020304" pitchFamily="18" charset="0"/>
            </a:endParaRPr>
          </a:p>
        </p:txBody>
      </p:sp>
      <p:sp>
        <p:nvSpPr>
          <p:cNvPr id="9" name="TextBox 8">
            <a:extLst>
              <a:ext uri="{FF2B5EF4-FFF2-40B4-BE49-F238E27FC236}">
                <a16:creationId xmlns="" xmlns:a16="http://schemas.microsoft.com/office/drawing/2014/main" id="{327BFE51-F331-49AA-EA6D-B0B099F31F3A}"/>
              </a:ext>
            </a:extLst>
          </p:cNvPr>
          <p:cNvSpPr txBox="1"/>
          <p:nvPr/>
        </p:nvSpPr>
        <p:spPr>
          <a:xfrm>
            <a:off x="813038" y="3174767"/>
            <a:ext cx="10151135" cy="3416320"/>
          </a:xfrm>
          <a:prstGeom prst="rect">
            <a:avLst/>
          </a:prstGeom>
          <a:noFill/>
        </p:spPr>
        <p:txBody>
          <a:bodyPr wrap="square">
            <a:spAutoFit/>
          </a:bodyPr>
          <a:lstStyle/>
          <a:p>
            <a:pPr algn="l"/>
            <a:r>
              <a:rPr lang="pt-PT" b="0" i="0" u="none" strike="noStrike" dirty="0" err="1">
                <a:solidFill>
                  <a:srgbClr val="000000"/>
                </a:solidFill>
                <a:effectLst/>
                <a:latin typeface="Georgia" panose="02040502050405020303" pitchFamily="18" charset="0"/>
              </a:rPr>
              <a:t>Clusterização</a:t>
            </a:r>
            <a:r>
              <a:rPr lang="pt-PT" b="0" i="0" u="none" strike="noStrike" dirty="0">
                <a:solidFill>
                  <a:srgbClr val="000000"/>
                </a:solidFill>
                <a:effectLst/>
                <a:latin typeface="Georgia" panose="02040502050405020303" pitchFamily="18" charset="0"/>
              </a:rPr>
              <a:t> para variáveis categóricas </a:t>
            </a:r>
          </a:p>
          <a:p>
            <a:pPr algn="l"/>
            <a:endParaRPr lang="pt-PT" dirty="0">
              <a:solidFill>
                <a:srgbClr val="000000"/>
              </a:solidFill>
              <a:latin typeface="Georgia" panose="02040502050405020303" pitchFamily="18" charset="0"/>
            </a:endParaRPr>
          </a:p>
          <a:p>
            <a:pPr algn="l"/>
            <a:r>
              <a:rPr lang="pt-PT" b="0" i="0" u="none" strike="noStrike" dirty="0">
                <a:solidFill>
                  <a:srgbClr val="000000"/>
                </a:solidFill>
                <a:effectLst/>
                <a:latin typeface="Georgia" panose="02040502050405020303" pitchFamily="18" charset="0"/>
                <a:hlinkClick r:id="rId2"/>
              </a:rPr>
              <a:t>https://www.youtube.com/watch?v=b39_vipRkUo</a:t>
            </a:r>
            <a:r>
              <a:rPr lang="pt-PT" b="0" i="0" u="none" strike="noStrike" dirty="0">
                <a:solidFill>
                  <a:srgbClr val="000000"/>
                </a:solidFill>
                <a:effectLst/>
                <a:latin typeface="Georgia" panose="02040502050405020303" pitchFamily="18" charset="0"/>
              </a:rPr>
              <a:t> </a:t>
            </a:r>
          </a:p>
          <a:p>
            <a:pPr algn="l"/>
            <a:endParaRPr lang="pt-PT" dirty="0">
              <a:solidFill>
                <a:srgbClr val="000000"/>
              </a:solidFill>
              <a:latin typeface="Georgia" panose="02040502050405020303" pitchFamily="18" charset="0"/>
            </a:endParaRPr>
          </a:p>
          <a:p>
            <a:pPr algn="l"/>
            <a:r>
              <a:rPr lang="pt-PT" b="0" i="0" u="none" strike="noStrike" dirty="0">
                <a:solidFill>
                  <a:srgbClr val="000000"/>
                </a:solidFill>
                <a:effectLst/>
                <a:latin typeface="Georgia" panose="02040502050405020303" pitchFamily="18" charset="0"/>
                <a:hlinkClick r:id="rId3"/>
              </a:rPr>
              <a:t>https://www.analyticsvidhya.com/blog/2021/06/kmodes-clustering-algorithm-for-categorical-data/</a:t>
            </a:r>
            <a:r>
              <a:rPr lang="pt-PT" b="0" i="0" u="none" strike="noStrike" dirty="0">
                <a:solidFill>
                  <a:srgbClr val="000000"/>
                </a:solidFill>
                <a:effectLst/>
                <a:latin typeface="Georgia" panose="02040502050405020303" pitchFamily="18" charset="0"/>
              </a:rPr>
              <a:t> </a:t>
            </a:r>
          </a:p>
          <a:p>
            <a:pPr algn="l"/>
            <a:endParaRPr lang="pt-PT" dirty="0">
              <a:solidFill>
                <a:srgbClr val="000000"/>
              </a:solidFill>
              <a:latin typeface="Georgia" panose="02040502050405020303" pitchFamily="18" charset="0"/>
            </a:endParaRPr>
          </a:p>
          <a:p>
            <a:pPr algn="l"/>
            <a:endParaRPr lang="pt-PT" b="0" i="0" u="none" strike="noStrike" dirty="0">
              <a:solidFill>
                <a:srgbClr val="000000"/>
              </a:solidFill>
              <a:effectLst/>
              <a:latin typeface="Georgia" panose="02040502050405020303" pitchFamily="18" charset="0"/>
            </a:endParaRPr>
          </a:p>
          <a:p>
            <a:pPr algn="l"/>
            <a:r>
              <a:rPr lang="pt-PT" b="0" i="0" u="none" strike="noStrike" dirty="0">
                <a:solidFill>
                  <a:srgbClr val="000000"/>
                </a:solidFill>
                <a:effectLst/>
                <a:latin typeface="Georgia" panose="02040502050405020303" pitchFamily="18" charset="0"/>
                <a:hlinkClick r:id="rId3"/>
              </a:rPr>
              <a:t>https://www.analyticsvidhya.com/blog/2021/06/kmodes-clustering-algorithm-for-categorical-data/</a:t>
            </a:r>
            <a:r>
              <a:rPr lang="pt-PT" dirty="0">
                <a:solidFill>
                  <a:srgbClr val="000000"/>
                </a:solidFill>
                <a:latin typeface="Georgia" panose="02040502050405020303" pitchFamily="18" charset="0"/>
              </a:rPr>
              <a:t> </a:t>
            </a:r>
          </a:p>
          <a:p>
            <a:pPr algn="l"/>
            <a:r>
              <a:rPr lang="pt-PT" dirty="0">
                <a:solidFill>
                  <a:srgbClr val="000000"/>
                </a:solidFill>
                <a:latin typeface="Georgia" panose="02040502050405020303" pitchFamily="18" charset="0"/>
                <a:hlinkClick r:id="rId4"/>
              </a:rPr>
              <a:t>https://www.maxwell.vrac.puc-rio.br/14382/14382_4.PDF</a:t>
            </a:r>
            <a:r>
              <a:rPr lang="pt-PT" dirty="0">
                <a:solidFill>
                  <a:srgbClr val="000000"/>
                </a:solidFill>
                <a:latin typeface="Georgia" panose="02040502050405020303" pitchFamily="18" charset="0"/>
              </a:rPr>
              <a:t> </a:t>
            </a:r>
          </a:p>
          <a:p>
            <a:pPr algn="l"/>
            <a:r>
              <a:rPr lang="pt-PT" b="0" i="0" u="none" strike="noStrike" dirty="0">
                <a:solidFill>
                  <a:srgbClr val="000000"/>
                </a:solidFill>
                <a:effectLst/>
                <a:latin typeface="Georgia" panose="02040502050405020303" pitchFamily="18" charset="0"/>
                <a:hlinkClick r:id="rId5"/>
              </a:rPr>
              <a:t>https://www.dca.fee.unicamp.br/~lboccato/topico_8_clusterizacao.pdf</a:t>
            </a:r>
            <a:r>
              <a:rPr lang="pt-PT" b="0" i="0" u="none" strike="noStrike" dirty="0">
                <a:solidFill>
                  <a:srgbClr val="000000"/>
                </a:solidFill>
                <a:effectLst/>
                <a:latin typeface="Georgia" panose="02040502050405020303" pitchFamily="18" charset="0"/>
              </a:rPr>
              <a:t> </a:t>
            </a:r>
          </a:p>
        </p:txBody>
      </p:sp>
    </p:spTree>
    <p:extLst>
      <p:ext uri="{BB962C8B-B14F-4D97-AF65-F5344CB8AC3E}">
        <p14:creationId xmlns:p14="http://schemas.microsoft.com/office/powerpoint/2010/main" val="22121528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554583" y="409303"/>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Machine Learning</a:t>
            </a:r>
          </a:p>
        </p:txBody>
      </p:sp>
      <p:pic>
        <p:nvPicPr>
          <p:cNvPr id="5" name="Picture 4">
            <a:extLst>
              <a:ext uri="{FF2B5EF4-FFF2-40B4-BE49-F238E27FC236}">
                <a16:creationId xmlns="" xmlns:a16="http://schemas.microsoft.com/office/drawing/2014/main" id="{453ED842-A31A-7A87-93AA-08A1DE094F74}"/>
              </a:ext>
            </a:extLst>
          </p:cNvPr>
          <p:cNvPicPr>
            <a:picLocks noChangeAspect="1"/>
          </p:cNvPicPr>
          <p:nvPr/>
        </p:nvPicPr>
        <p:blipFill>
          <a:blip r:embed="rId2"/>
          <a:stretch>
            <a:fillRect/>
          </a:stretch>
        </p:blipFill>
        <p:spPr>
          <a:xfrm>
            <a:off x="3243262" y="1066800"/>
            <a:ext cx="5705475" cy="4724400"/>
          </a:xfrm>
          <a:prstGeom prst="rect">
            <a:avLst/>
          </a:prstGeom>
        </p:spPr>
      </p:pic>
    </p:spTree>
    <p:extLst>
      <p:ext uri="{BB962C8B-B14F-4D97-AF65-F5344CB8AC3E}">
        <p14:creationId xmlns:p14="http://schemas.microsoft.com/office/powerpoint/2010/main" val="36969521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4554583" y="409303"/>
            <a:ext cx="3143794" cy="478972"/>
          </a:xfrm>
          <a:prstGeom prst="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Machine Learning</a:t>
            </a:r>
          </a:p>
        </p:txBody>
      </p:sp>
      <p:sp>
        <p:nvSpPr>
          <p:cNvPr id="3" name="TextBox 2">
            <a:extLst>
              <a:ext uri="{FF2B5EF4-FFF2-40B4-BE49-F238E27FC236}">
                <a16:creationId xmlns="" xmlns:a16="http://schemas.microsoft.com/office/drawing/2014/main" id="{FDB12D37-AC5B-20C8-EBBA-52049CD37E46}"/>
              </a:ext>
            </a:extLst>
          </p:cNvPr>
          <p:cNvSpPr txBox="1"/>
          <p:nvPr/>
        </p:nvSpPr>
        <p:spPr>
          <a:xfrm>
            <a:off x="640511" y="1182144"/>
            <a:ext cx="6094562" cy="646331"/>
          </a:xfrm>
          <a:prstGeom prst="rect">
            <a:avLst/>
          </a:prstGeom>
          <a:noFill/>
        </p:spPr>
        <p:txBody>
          <a:bodyPr wrap="square">
            <a:spAutoFit/>
          </a:bodyPr>
          <a:lstStyle/>
          <a:p>
            <a:r>
              <a:rPr lang="pt-PT" dirty="0"/>
              <a:t>https://www.analyticsvidhya.com/blog/2022/02/a-quick-guide-to-bivariate-analysis-in-python/</a:t>
            </a:r>
          </a:p>
        </p:txBody>
      </p:sp>
      <p:sp>
        <p:nvSpPr>
          <p:cNvPr id="7" name="TextBox 6">
            <a:extLst>
              <a:ext uri="{FF2B5EF4-FFF2-40B4-BE49-F238E27FC236}">
                <a16:creationId xmlns="" xmlns:a16="http://schemas.microsoft.com/office/drawing/2014/main" id="{D61441EC-42D8-D437-7C92-08F618A77F8A}"/>
              </a:ext>
            </a:extLst>
          </p:cNvPr>
          <p:cNvSpPr txBox="1"/>
          <p:nvPr/>
        </p:nvSpPr>
        <p:spPr>
          <a:xfrm>
            <a:off x="467983" y="2122344"/>
            <a:ext cx="6094562" cy="646331"/>
          </a:xfrm>
          <a:prstGeom prst="rect">
            <a:avLst/>
          </a:prstGeom>
          <a:noFill/>
        </p:spPr>
        <p:txBody>
          <a:bodyPr wrap="square">
            <a:spAutoFit/>
          </a:bodyPr>
          <a:lstStyle/>
          <a:p>
            <a:r>
              <a:rPr lang="pt-PT" dirty="0"/>
              <a:t>https://www.quora.com/How-can-I-measure-the-correlation-between-continuous-and-categorical-variables</a:t>
            </a:r>
          </a:p>
        </p:txBody>
      </p:sp>
      <p:sp>
        <p:nvSpPr>
          <p:cNvPr id="2" name="Retângulo 1"/>
          <p:cNvSpPr/>
          <p:nvPr/>
        </p:nvSpPr>
        <p:spPr>
          <a:xfrm>
            <a:off x="365761" y="3062544"/>
            <a:ext cx="6096000" cy="646331"/>
          </a:xfrm>
          <a:prstGeom prst="rect">
            <a:avLst/>
          </a:prstGeom>
        </p:spPr>
        <p:txBody>
          <a:bodyPr>
            <a:spAutoFit/>
          </a:bodyPr>
          <a:lstStyle/>
          <a:p>
            <a:r>
              <a:rPr lang="en-US" dirty="0"/>
              <a:t>https://sites.google.com/view/vinegarhill-datalabs/data-transformation-and-visualization</a:t>
            </a:r>
          </a:p>
        </p:txBody>
      </p:sp>
    </p:spTree>
    <p:extLst>
      <p:ext uri="{BB962C8B-B14F-4D97-AF65-F5344CB8AC3E}">
        <p14:creationId xmlns:p14="http://schemas.microsoft.com/office/powerpoint/2010/main" val="28000871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p:cNvSpPr>
            <a:spLocks noChangeArrowheads="1"/>
          </p:cNvSpPr>
          <p:nvPr/>
        </p:nvSpPr>
        <p:spPr bwMode="auto">
          <a:xfrm>
            <a:off x="452846" y="457778"/>
            <a:ext cx="10058400" cy="1231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457200" algn="l"/>
              </a:tabLst>
              <a:defRPr>
                <a:solidFill>
                  <a:schemeClr val="tx1"/>
                </a:solidFill>
                <a:latin typeface="Arial" panose="020B0604020202020204" pitchFamily="34" charset="0"/>
              </a:defRPr>
            </a:lvl1pPr>
            <a:lvl2pPr eaLnBrk="0" fontAlgn="base" hangingPunct="0">
              <a:spcBef>
                <a:spcPct val="0"/>
              </a:spcBef>
              <a:spcAft>
                <a:spcPct val="0"/>
              </a:spcAft>
              <a:tabLst>
                <a:tab pos="457200" algn="l"/>
              </a:tabLst>
              <a:defRPr>
                <a:solidFill>
                  <a:schemeClr val="tx1"/>
                </a:solidFill>
                <a:latin typeface="Arial" panose="020B0604020202020204" pitchFamily="34" charset="0"/>
              </a:defRPr>
            </a:lvl2pPr>
            <a:lvl3pPr eaLnBrk="0" fontAlgn="base" hangingPunct="0">
              <a:spcBef>
                <a:spcPct val="0"/>
              </a:spcBef>
              <a:spcAft>
                <a:spcPct val="0"/>
              </a:spcAft>
              <a:tabLst>
                <a:tab pos="457200" algn="l"/>
              </a:tabLst>
              <a:defRPr>
                <a:solidFill>
                  <a:schemeClr val="tx1"/>
                </a:solidFill>
                <a:latin typeface="Arial" panose="020B0604020202020204" pitchFamily="34" charset="0"/>
              </a:defRPr>
            </a:lvl3pPr>
            <a:lvl4pPr eaLnBrk="0" fontAlgn="base" hangingPunct="0">
              <a:spcBef>
                <a:spcPct val="0"/>
              </a:spcBef>
              <a:spcAft>
                <a:spcPct val="0"/>
              </a:spcAft>
              <a:tabLst>
                <a:tab pos="457200" algn="l"/>
              </a:tabLst>
              <a:defRPr>
                <a:solidFill>
                  <a:schemeClr val="tx1"/>
                </a:solidFill>
                <a:latin typeface="Arial" panose="020B0604020202020204" pitchFamily="34" charset="0"/>
              </a:defRPr>
            </a:lvl4pPr>
            <a:lvl5pPr eaLnBrk="0" fontAlgn="base" hangingPunct="0">
              <a:spcBef>
                <a:spcPct val="0"/>
              </a:spcBef>
              <a:spcAft>
                <a:spcPct val="0"/>
              </a:spcAft>
              <a:tabLst>
                <a:tab pos="457200" algn="l"/>
              </a:tabLst>
              <a:defRPr>
                <a:solidFill>
                  <a:schemeClr val="tx1"/>
                </a:solidFill>
                <a:latin typeface="Arial" panose="020B0604020202020204" pitchFamily="34" charset="0"/>
              </a:defRPr>
            </a:lvl5pPr>
            <a:lvl6pPr eaLnBrk="0" fontAlgn="base" hangingPunct="0">
              <a:spcBef>
                <a:spcPct val="0"/>
              </a:spcBef>
              <a:spcAft>
                <a:spcPct val="0"/>
              </a:spcAft>
              <a:tabLst>
                <a:tab pos="457200" algn="l"/>
              </a:tabLst>
              <a:defRPr>
                <a:solidFill>
                  <a:schemeClr val="tx1"/>
                </a:solidFill>
                <a:latin typeface="Arial" panose="020B0604020202020204" pitchFamily="34" charset="0"/>
              </a:defRPr>
            </a:lvl6pPr>
            <a:lvl7pPr eaLnBrk="0" fontAlgn="base" hangingPunct="0">
              <a:spcBef>
                <a:spcPct val="0"/>
              </a:spcBef>
              <a:spcAft>
                <a:spcPct val="0"/>
              </a:spcAft>
              <a:tabLst>
                <a:tab pos="457200" algn="l"/>
              </a:tabLst>
              <a:defRPr>
                <a:solidFill>
                  <a:schemeClr val="tx1"/>
                </a:solidFill>
                <a:latin typeface="Arial" panose="020B0604020202020204" pitchFamily="34" charset="0"/>
              </a:defRPr>
            </a:lvl7pPr>
            <a:lvl8pPr eaLnBrk="0" fontAlgn="base" hangingPunct="0">
              <a:spcBef>
                <a:spcPct val="0"/>
              </a:spcBef>
              <a:spcAft>
                <a:spcPct val="0"/>
              </a:spcAft>
              <a:tabLst>
                <a:tab pos="457200" algn="l"/>
              </a:tabLst>
              <a:defRPr>
                <a:solidFill>
                  <a:schemeClr val="tx1"/>
                </a:solidFill>
                <a:latin typeface="Arial" panose="020B0604020202020204" pitchFamily="34" charset="0"/>
              </a:defRPr>
            </a:lvl8pPr>
            <a:lvl9pPr eaLnBrk="0" fontAlgn="base" hangingPunct="0">
              <a:spcBef>
                <a:spcPct val="0"/>
              </a:spcBef>
              <a:spcAft>
                <a:spcPct val="0"/>
              </a:spcAft>
              <a:tabLst>
                <a:tab pos="457200" algn="l"/>
              </a:tabLs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Char char="•"/>
              <a:tabLst>
                <a:tab pos="457200" algn="l"/>
              </a:tabLst>
            </a:pP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Utilizar validação cruzada ao invés de dividir a base em porções para treinamento e teste</a:t>
            </a:r>
            <a:endParaRPr kumimoji="0" lang="en-US" altLang="en-US" sz="1200" b="0" i="0" u="none" strike="noStrike" cap="none" normalizeH="0" baseline="0" dirty="0" smtClean="0">
              <a:ln>
                <a:noFill/>
              </a:ln>
              <a:solidFill>
                <a:schemeClr val="tx1"/>
              </a:solidFill>
              <a:effectLst/>
              <a:ea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tab pos="457200" algn="l"/>
              </a:tabLst>
            </a:pP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Executar pelo menos 30 testes com cada algoritmo, utilizando o valor retornado pelo </a:t>
            </a:r>
            <a:r>
              <a:rPr kumimoji="0" lang="pt-BR" altLang="en-US" sz="1300" b="0" i="0" u="none" strike="noStrike" cap="none" normalizeH="0" baseline="0" dirty="0" smtClean="0">
                <a:ln>
                  <a:noFill/>
                </a:ln>
                <a:solidFill>
                  <a:srgbClr val="B4690E"/>
                </a:solidFill>
                <a:effectLst/>
                <a:latin typeface="Consolas" panose="020B0609020204030204" pitchFamily="49" charset="0"/>
                <a:ea typeface="Times New Roman" panose="02020603050405020304" pitchFamily="18" charset="0"/>
                <a:cs typeface="Courier New" panose="02070309020205020404" pitchFamily="49" charset="0"/>
              </a:rPr>
              <a:t>score</a:t>
            </a: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 (opcionalmente você pode usar o </a:t>
            </a:r>
            <a:r>
              <a:rPr kumimoji="0" lang="pt-BR" altLang="en-US" sz="1300" b="0" i="0" u="none" strike="noStrike" cap="none" normalizeH="0" baseline="0" dirty="0" err="1" smtClean="0">
                <a:ln>
                  <a:noFill/>
                </a:ln>
                <a:solidFill>
                  <a:srgbClr val="B4690E"/>
                </a:solidFill>
                <a:effectLst/>
                <a:latin typeface="Consolas" panose="020B0609020204030204" pitchFamily="49" charset="0"/>
                <a:ea typeface="Times New Roman" panose="02020603050405020304" pitchFamily="18" charset="0"/>
                <a:cs typeface="Courier New" panose="02070309020205020404" pitchFamily="49" charset="0"/>
              </a:rPr>
              <a:t>mean_absolute_error</a:t>
            </a: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a:t>
            </a:r>
            <a:endParaRPr kumimoji="0" lang="en-US" altLang="en-US" sz="1200" b="0" i="0" u="none" strike="noStrike" cap="none" normalizeH="0" baseline="0" dirty="0" smtClean="0">
              <a:ln>
                <a:noFill/>
              </a:ln>
              <a:solidFill>
                <a:schemeClr val="tx1"/>
              </a:solidFill>
              <a:effectLst/>
              <a:ea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tab pos="457200" algn="l"/>
              </a:tabLst>
            </a:pP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Construir a planilha com os resultados, calculando a média dos 30 testes de cada algoritmo</a:t>
            </a:r>
            <a:endParaRPr kumimoji="0" lang="en-US" altLang="en-US" sz="1200" b="0" i="0" u="none" strike="noStrike" cap="none" normalizeH="0" baseline="0" dirty="0" smtClean="0">
              <a:ln>
                <a:noFill/>
              </a:ln>
              <a:solidFill>
                <a:schemeClr val="tx1"/>
              </a:solidFill>
              <a:effectLst/>
              <a:ea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tab pos="457200" algn="l"/>
              </a:tabLst>
            </a:pP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Fazer os testes de </a:t>
            </a:r>
            <a:r>
              <a:rPr kumimoji="0" lang="pt-BR" altLang="en-US" sz="1200" b="0" i="0" u="none" strike="noStrike" cap="none" normalizeH="0" baseline="0" dirty="0" err="1"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Friedmann</a:t>
            </a: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 e </a:t>
            </a:r>
            <a:r>
              <a:rPr kumimoji="0" lang="pt-BR" altLang="en-US" sz="1200" b="0" i="0" u="none" strike="noStrike" cap="none" normalizeH="0" baseline="0" dirty="0" err="1"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Nemenyi</a:t>
            </a: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 para verificar se existe diferença estatística significativa entre os resultados </a:t>
            </a:r>
            <a:endParaRPr kumimoji="0" lang="en-US" altLang="en-US" sz="1200" b="0" i="0" u="none" strike="noStrike" cap="none" normalizeH="0" baseline="0" dirty="0" smtClean="0">
              <a:ln>
                <a:noFill/>
              </a:ln>
              <a:solidFill>
                <a:schemeClr val="tx1"/>
              </a:solidFill>
              <a:effectLst/>
              <a:ea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tab pos="457200" algn="l"/>
              </a:tabLst>
            </a:pP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hlinkClick r:id="rId2"/>
              </a:rPr>
              <a:t>https://sites.google.com/view/vinegarhill-datalabs/introduction-to-machine-learning/random-forest-and-ols</a:t>
            </a:r>
            <a:r>
              <a:rPr kumimoji="0" lang="pt-BR" altLang="en-US" sz="1200" b="0" i="0" u="none" strike="noStrike" cap="none" normalizeH="0" baseline="0" dirty="0" smtClean="0">
                <a:ln>
                  <a:noFill/>
                </a:ln>
                <a:solidFill>
                  <a:srgbClr val="1C1D1F"/>
                </a:solidFill>
                <a:effectLst/>
                <a:latin typeface="Segoe UI" panose="020B0502040204020203" pitchFamily="34" charset="0"/>
                <a:ea typeface="Times New Roman" panose="02020603050405020304" pitchFamily="18" charset="0"/>
                <a:cs typeface="Segoe UI" panose="020B0502040204020203" pitchFamily="34" charset="0"/>
              </a:rPr>
              <a:t> </a:t>
            </a:r>
            <a:endParaRPr kumimoji="0" lang="pt-BR" altLang="en-US" sz="18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632156721"/>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4727</TotalTime>
  <Words>608</Words>
  <Application>Microsoft Office PowerPoint</Application>
  <PresentationFormat>Widescreen</PresentationFormat>
  <Paragraphs>148</Paragraphs>
  <Slides>14</Slides>
  <Notes>0</Notes>
  <HiddenSlides>0</HiddenSlides>
  <MMClips>0</MMClips>
  <ScaleCrop>false</ScaleCrop>
  <HeadingPairs>
    <vt:vector size="6" baseType="variant">
      <vt:variant>
        <vt:lpstr>Fontes usadas</vt:lpstr>
      </vt:variant>
      <vt:variant>
        <vt:i4>9</vt:i4>
      </vt:variant>
      <vt:variant>
        <vt:lpstr>Tema</vt:lpstr>
      </vt:variant>
      <vt:variant>
        <vt:i4>1</vt:i4>
      </vt:variant>
      <vt:variant>
        <vt:lpstr>Títulos de slides</vt:lpstr>
      </vt:variant>
      <vt:variant>
        <vt:i4>14</vt:i4>
      </vt:variant>
    </vt:vector>
  </HeadingPairs>
  <TitlesOfParts>
    <vt:vector size="24" baseType="lpstr">
      <vt:lpstr>Arial</vt:lpstr>
      <vt:lpstr>Calibri</vt:lpstr>
      <vt:lpstr>Calibri Light</vt:lpstr>
      <vt:lpstr>Consolas</vt:lpstr>
      <vt:lpstr>Courier New</vt:lpstr>
      <vt:lpstr>Georgia</vt:lpstr>
      <vt:lpstr>IBM Plex Sans</vt:lpstr>
      <vt:lpstr>Segoe UI</vt:lpstr>
      <vt:lpstr>Times New Roman</vt:lpstr>
      <vt:lpstr>Tema do Office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Conta da Microsoft</dc:creator>
  <cp:lastModifiedBy>Conta da Microsoft</cp:lastModifiedBy>
  <cp:revision>40</cp:revision>
  <dcterms:created xsi:type="dcterms:W3CDTF">2023-02-18T04:26:58Z</dcterms:created>
  <dcterms:modified xsi:type="dcterms:W3CDTF">2023-02-25T19:26:16Z</dcterms:modified>
</cp:coreProperties>
</file>